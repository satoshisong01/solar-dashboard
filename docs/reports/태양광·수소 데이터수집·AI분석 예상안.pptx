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56032"/>
          </a:xfrm>
          <a:prstGeom prst="rect">
            <a:avLst/>
          </a:prstGeom>
          <a:solidFill>
            <a:srgbClr val="3E7EE7"/>
          </a:solidFill>
          <a:ln/>
        </p:spPr>
      </p:sp>
      <p:pic>
        <p:nvPicPr>
          <p:cNvPr id="3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3108960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38328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태양광·수소 발전 데이터 분석 예상안</a:t>
            </a:r>
            <a:endParaRPr lang="ko-KR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4041648"/>
            <a:ext cx="3840480" cy="73152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06240"/>
            <a:ext cx="1645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7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데이터로 보는 수명과 개선 여지</a:t>
            </a:r>
            <a:endParaRPr lang="ko-KR" sz="7600" dirty="0"/>
          </a:p>
          <a:p>
            <a:pPr indent="0" marL="0">
              <a:spcBef>
                <a:spcPts val="1400"/>
              </a:spcBef>
              <a:buNone/>
            </a:pPr>
            <a:r>
              <a:rPr lang="ko-KR" altLang="en-US" sz="3000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받는 데이터 · 월/분기 AI 분석 · 리포트 구성</a:t>
            </a:r>
            <a:endParaRPr lang="ko-KR" sz="7600" dirty="0"/>
          </a:p>
        </p:txBody>
      </p:sp>
      <p:sp>
        <p:nvSpPr>
          <p:cNvPr id="7" name="Shape 4"/>
          <p:cNvSpPr/>
          <p:nvPr/>
        </p:nvSpPr>
        <p:spPr>
          <a:xfrm>
            <a:off x="914400" y="8321040"/>
            <a:ext cx="676656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83210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퍼스트씨앤디      |      작성일 2026. 09. 14</a:t>
            </a:r>
            <a:endParaRPr lang="ko-KR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개요 · 목적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46120"/>
            <a:ext cx="16459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246120"/>
            <a:ext cx="2926080" cy="13258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24612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</a:t>
            </a:r>
            <a:endParaRPr lang="ko-KR" sz="2600" dirty="0"/>
          </a:p>
        </p:txBody>
      </p:sp>
      <p:sp>
        <p:nvSpPr>
          <p:cNvPr id="10" name="Text 7"/>
          <p:cNvSpPr/>
          <p:nvPr/>
        </p:nvSpPr>
        <p:spPr>
          <a:xfrm>
            <a:off x="4160520" y="3246120"/>
            <a:ext cx="1289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받는 데이터, 그 데이터로 수명·개선 여지를 아는 방법, 월·분기 AI 분석과 리포트 모습을 정리합니다</a:t>
            </a:r>
            <a:endParaRPr lang="ko-KR" sz="2200" dirty="0"/>
          </a:p>
        </p:txBody>
      </p:sp>
      <p:sp>
        <p:nvSpPr>
          <p:cNvPr id="11" name="Shape 8"/>
          <p:cNvSpPr/>
          <p:nvPr/>
        </p:nvSpPr>
        <p:spPr>
          <a:xfrm>
            <a:off x="914400" y="4754880"/>
            <a:ext cx="16459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754880"/>
            <a:ext cx="2926080" cy="13258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ko-KR" sz="2600" dirty="0"/>
          </a:p>
        </p:txBody>
      </p:sp>
      <p:sp>
        <p:nvSpPr>
          <p:cNvPr id="14" name="Text 11"/>
          <p:cNvSpPr/>
          <p:nvPr/>
        </p:nvSpPr>
        <p:spPr>
          <a:xfrm>
            <a:off x="4160520" y="4754880"/>
            <a:ext cx="1289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연계형 수소발전을 시작하지만 실제 원시데이터와 수소 설비 사양이 아직 없어, 공개 자료로 먼저 만든 예상안입니다</a:t>
            </a:r>
            <a:endParaRPr lang="ko-KR" sz="2200" dirty="0"/>
          </a:p>
        </p:txBody>
      </p:sp>
      <p:sp>
        <p:nvSpPr>
          <p:cNvPr id="15" name="Shape 12"/>
          <p:cNvSpPr/>
          <p:nvPr/>
        </p:nvSpPr>
        <p:spPr>
          <a:xfrm>
            <a:off x="914400" y="6263640"/>
            <a:ext cx="16459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6263640"/>
            <a:ext cx="2926080" cy="13258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626364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ko-KR" sz="2600" dirty="0"/>
          </a:p>
        </p:txBody>
      </p:sp>
      <p:sp>
        <p:nvSpPr>
          <p:cNvPr id="18" name="Text 15"/>
          <p:cNvSpPr/>
          <p:nvPr/>
        </p:nvSpPr>
        <p:spPr>
          <a:xfrm>
            <a:off x="4160520" y="6263640"/>
            <a:ext cx="1289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태양광·ESS·계통, PEM 전해조, 수소 압축·저장·안전, PEM 연료전지와 공통 EMS·계량·보안</a:t>
            </a:r>
            <a:endParaRPr lang="ko-KR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7772400"/>
            <a:ext cx="16459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7772400"/>
            <a:ext cx="2926080" cy="13258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777240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endParaRPr lang="ko-KR" sz="2600" dirty="0"/>
          </a:p>
        </p:txBody>
      </p:sp>
      <p:sp>
        <p:nvSpPr>
          <p:cNvPr id="22" name="Text 19"/>
          <p:cNvSpPr/>
          <p:nvPr/>
        </p:nvSpPr>
        <p:spPr>
          <a:xfrm>
            <a:off x="4160520" y="7772400"/>
            <a:ext cx="1289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제조사 데이터는 계약에 적어야 확보되므로, 계약 전 수집 목록과 리포트 설계의 출발점으로 씁니다</a:t>
            </a:r>
            <a:endParaRPr lang="ko-KR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자료로 만들고 핵심 주장은 원문 대조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4612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246120"/>
            <a:ext cx="5303520" cy="91440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0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189개</a:t>
            </a:r>
            <a:endParaRPr lang="ko-KR" sz="5000" dirty="0"/>
          </a:p>
          <a:p>
            <a:pPr algn="ctr" indent="0" marL="0">
              <a:buNone/>
            </a:pPr>
            <a:r>
              <a:rPr lang="ko-KR" altLang="en-US" sz="18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받는 데이터(필수 115)</a:t>
            </a:r>
            <a:endParaRPr lang="ko-KR" sz="5000" dirty="0"/>
          </a:p>
        </p:txBody>
      </p:sp>
      <p:sp>
        <p:nvSpPr>
          <p:cNvPr id="10" name="Shape 7"/>
          <p:cNvSpPr/>
          <p:nvPr/>
        </p:nvSpPr>
        <p:spPr>
          <a:xfrm>
            <a:off x="6492240" y="324612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3246120"/>
            <a:ext cx="5303520" cy="91440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0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129건</a:t>
            </a:r>
            <a:endParaRPr lang="ko-KR" sz="5000" dirty="0"/>
          </a:p>
          <a:p>
            <a:pPr algn="ctr" indent="0" marL="0">
              <a:buNone/>
            </a:pPr>
            <a:r>
              <a:rPr lang="ko-KR" altLang="en-US" sz="18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정리한 AI 분석</a:t>
            </a:r>
            <a:endParaRPr lang="ko-KR" sz="5000" dirty="0"/>
          </a:p>
        </p:txBody>
      </p:sp>
      <p:sp>
        <p:nvSpPr>
          <p:cNvPr id="13" name="Shape 10"/>
          <p:cNvSpPr/>
          <p:nvPr/>
        </p:nvSpPr>
        <p:spPr>
          <a:xfrm>
            <a:off x="12070080" y="324612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070080" y="3246120"/>
            <a:ext cx="5303520" cy="91440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5" name="Text 12"/>
          <p:cNvSpPr/>
          <p:nvPr/>
        </p:nvSpPr>
        <p:spPr>
          <a:xfrm>
            <a:off x="1225296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0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315건</a:t>
            </a:r>
            <a:endParaRPr lang="ko-KR" sz="5000" dirty="0"/>
          </a:p>
          <a:p>
            <a:pPr algn="ctr" indent="0" marL="0">
              <a:buNone/>
            </a:pPr>
            <a:r>
              <a:rPr lang="ko-KR" altLang="en-US" sz="18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원문과 대조한 핵심 주장</a:t>
            </a:r>
            <a:endParaRPr lang="ko-KR" sz="5000" dirty="0"/>
          </a:p>
        </p:txBody>
      </p:sp>
      <p:sp>
        <p:nvSpPr>
          <p:cNvPr id="16" name="Text 13"/>
          <p:cNvSpPr/>
          <p:nvPr/>
        </p:nvSpPr>
        <p:spPr>
          <a:xfrm>
            <a:off x="914400" y="5486400"/>
            <a:ext cx="1645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주장 315건 대조 결과(출처 485행)</a:t>
            </a:r>
            <a:endParaRPr lang="ko-KR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6126480"/>
          <a:ext cx="164592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부분 확인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미확인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반박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231건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원문대로 사용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원문 조건을 붙여 사용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수치를 쓰지 않음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원문 기준으로 고치거나 뺌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914400" y="8293608"/>
            <a:ext cx="16459200" cy="1261872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9" name="Text 15"/>
          <p:cNvSpPr/>
          <p:nvPr/>
        </p:nvSpPr>
        <p:spPr>
          <a:xfrm>
            <a:off x="1234440" y="8403336"/>
            <a:ext cx="15819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예상안 성격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실측이 아닌 공개 자료 기반 예상안이며, 리포트 예시의 발전소와 수치는 가상입니다.</a:t>
            </a:r>
            <a:endParaRPr lang="ko-KR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단계마다 전기와 수소를 계량해야 합니다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왕복효율은 저장 손실 제외(PNNL 2022). 전력 배분은 EMS가 태양광 변동·ESS 충전율·저장 압력·가격을 보고 정합니다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1645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전기→수소→전기 왕복효율은 교류 기준 31~32%로, 리튬이온 ESS 82.59%보다 낮습니다(PNNL 2022).</a:t>
            </a:r>
            <a:endParaRPr lang="ko-KR" sz="21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8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전력</a:t>
            </a:r>
            <a:endParaRPr lang="ko-KR" sz="1800" dirty="0"/>
          </a:p>
        </p:txBody>
      </p:sp>
      <p:sp>
        <p:nvSpPr>
          <p:cNvPr id="10" name="Shape 7"/>
          <p:cNvSpPr/>
          <p:nvPr/>
        </p:nvSpPr>
        <p:spPr>
          <a:xfrm>
            <a:off x="914400" y="4453128"/>
            <a:ext cx="6309360" cy="27432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8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</a:t>
            </a:r>
            <a:endParaRPr lang="ko-KR" sz="1800" dirty="0"/>
          </a:p>
        </p:txBody>
      </p:sp>
      <p:sp>
        <p:nvSpPr>
          <p:cNvPr id="12" name="Shape 9"/>
          <p:cNvSpPr/>
          <p:nvPr/>
        </p:nvSpPr>
        <p:spPr>
          <a:xfrm>
            <a:off x="7680960" y="4453128"/>
            <a:ext cx="9692640" cy="27432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617720"/>
            <a:ext cx="2926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617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2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태양광</a:t>
            </a:r>
            <a:endParaRPr lang="ko-KR" sz="2300" dirty="0"/>
          </a:p>
          <a:p>
            <a:pPr algn="ctr" indent="0" marL="0">
              <a:buNone/>
            </a:pPr>
            <a:r>
              <a:rPr lang="ko-KR" altLang="en-US" sz="17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모듈·인버터·계통</a:t>
            </a:r>
            <a:endParaRPr lang="ko-KR" sz="2300" dirty="0"/>
          </a:p>
        </p:txBody>
      </p:sp>
      <p:sp>
        <p:nvSpPr>
          <p:cNvPr id="15" name="Text 12"/>
          <p:cNvSpPr/>
          <p:nvPr/>
        </p:nvSpPr>
        <p:spPr>
          <a:xfrm>
            <a:off x="3840480" y="4617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8585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2600" dirty="0"/>
          </a:p>
        </p:txBody>
      </p:sp>
      <p:sp>
        <p:nvSpPr>
          <p:cNvPr id="16" name="Shape 13"/>
          <p:cNvSpPr/>
          <p:nvPr/>
        </p:nvSpPr>
        <p:spPr>
          <a:xfrm>
            <a:off x="4297680" y="4617720"/>
            <a:ext cx="2926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4617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2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ESS</a:t>
            </a:r>
            <a:endParaRPr lang="ko-KR" sz="2300" dirty="0"/>
          </a:p>
          <a:p>
            <a:pPr algn="ctr" indent="0" marL="0">
              <a:buNone/>
            </a:pPr>
            <a:r>
              <a:rPr lang="ko-KR" altLang="en-US" sz="17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셀·BMS·PCS·공조</a:t>
            </a:r>
            <a:endParaRPr lang="ko-KR" sz="2300" dirty="0"/>
          </a:p>
        </p:txBody>
      </p:sp>
      <p:sp>
        <p:nvSpPr>
          <p:cNvPr id="18" name="Text 15"/>
          <p:cNvSpPr/>
          <p:nvPr/>
        </p:nvSpPr>
        <p:spPr>
          <a:xfrm>
            <a:off x="7223760" y="4617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8585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2600" dirty="0"/>
          </a:p>
        </p:txBody>
      </p:sp>
      <p:sp>
        <p:nvSpPr>
          <p:cNvPr id="19" name="Shape 16"/>
          <p:cNvSpPr/>
          <p:nvPr/>
        </p:nvSpPr>
        <p:spPr>
          <a:xfrm>
            <a:off x="7680960" y="4617720"/>
            <a:ext cx="2926080" cy="15544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0" name="Text 17"/>
          <p:cNvSpPr/>
          <p:nvPr/>
        </p:nvSpPr>
        <p:spPr>
          <a:xfrm>
            <a:off x="7818120" y="4617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PEM 수전해</a:t>
            </a:r>
            <a:endParaRPr lang="ko-KR" sz="2300" dirty="0"/>
          </a:p>
          <a:p>
            <a:pPr algn="ctr" indent="0" marL="0">
              <a:buNone/>
            </a:pPr>
            <a:r>
              <a:rPr lang="ko-KR" altLang="en-US" sz="17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정류기·스택·순수설비</a:t>
            </a:r>
            <a:endParaRPr lang="ko-KR" sz="2300" dirty="0"/>
          </a:p>
        </p:txBody>
      </p:sp>
      <p:sp>
        <p:nvSpPr>
          <p:cNvPr id="21" name="Text 18"/>
          <p:cNvSpPr/>
          <p:nvPr/>
        </p:nvSpPr>
        <p:spPr>
          <a:xfrm>
            <a:off x="10607040" y="4617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8585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2600" dirty="0"/>
          </a:p>
        </p:txBody>
      </p:sp>
      <p:sp>
        <p:nvSpPr>
          <p:cNvPr id="22" name="Shape 19"/>
          <p:cNvSpPr/>
          <p:nvPr/>
        </p:nvSpPr>
        <p:spPr>
          <a:xfrm>
            <a:off x="11064240" y="4617720"/>
            <a:ext cx="2926080" cy="15544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3" name="Text 20"/>
          <p:cNvSpPr/>
          <p:nvPr/>
        </p:nvSpPr>
        <p:spPr>
          <a:xfrm>
            <a:off x="11201400" y="4617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압축·저장</a:t>
            </a:r>
            <a:endParaRPr lang="ko-KR" sz="2300" dirty="0"/>
          </a:p>
          <a:p>
            <a:pPr algn="ctr" indent="0" marL="0">
              <a:buNone/>
            </a:pPr>
            <a:r>
              <a:rPr lang="ko-KR" altLang="en-US" sz="17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압축기·저장용기·검지기</a:t>
            </a:r>
            <a:endParaRPr lang="ko-KR" sz="2300" dirty="0"/>
          </a:p>
        </p:txBody>
      </p:sp>
      <p:sp>
        <p:nvSpPr>
          <p:cNvPr id="24" name="Text 21"/>
          <p:cNvSpPr/>
          <p:nvPr/>
        </p:nvSpPr>
        <p:spPr>
          <a:xfrm>
            <a:off x="13990320" y="4617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8585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2600" dirty="0"/>
          </a:p>
        </p:txBody>
      </p:sp>
      <p:sp>
        <p:nvSpPr>
          <p:cNvPr id="25" name="Shape 22"/>
          <p:cNvSpPr/>
          <p:nvPr/>
        </p:nvSpPr>
        <p:spPr>
          <a:xfrm>
            <a:off x="14447520" y="4617720"/>
            <a:ext cx="2926080" cy="15544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584680" y="4617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연료전지</a:t>
            </a:r>
            <a:endParaRPr lang="ko-KR" sz="2300" dirty="0"/>
          </a:p>
          <a:p>
            <a:pPr algn="ctr" indent="0" marL="0">
              <a:buNone/>
            </a:pPr>
            <a:r>
              <a:rPr lang="ko-KR" altLang="en-US" sz="17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스택·공기·냉각·퍼지</a:t>
            </a:r>
            <a:endParaRPr lang="ko-KR" sz="2300" dirty="0"/>
          </a:p>
        </p:txBody>
      </p:sp>
      <p:sp>
        <p:nvSpPr>
          <p:cNvPr id="27" name="Shape 24"/>
          <p:cNvSpPr/>
          <p:nvPr/>
        </p:nvSpPr>
        <p:spPr>
          <a:xfrm>
            <a:off x="914400" y="6583680"/>
            <a:ext cx="8092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658368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29" name="Text 26"/>
          <p:cNvSpPr/>
          <p:nvPr/>
        </p:nvSpPr>
        <p:spPr>
          <a:xfrm>
            <a:off x="1188720" y="685800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전력 계통 핵심 데이터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계량 15분, 인버터 전력·고장코드 1분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스트링 전류·MPPT 전압, 출력제어 지령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ESS 셀 전압·온도·SOC 10초~1분, 절연저항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103개: 동봉 엑셀 ‘수집데이터_전력’ 시트</a:t>
            </a:r>
            <a:endParaRPr lang="ko-KR" sz="2300" dirty="0"/>
          </a:p>
        </p:txBody>
      </p:sp>
      <p:sp>
        <p:nvSpPr>
          <p:cNvPr id="30" name="Shape 27"/>
          <p:cNvSpPr/>
          <p:nvPr/>
        </p:nvSpPr>
        <p:spPr>
          <a:xfrm>
            <a:off x="9281160" y="6583680"/>
            <a:ext cx="8092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81160" y="658368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32" name="Text 29"/>
          <p:cNvSpPr/>
          <p:nvPr/>
        </p:nvSpPr>
        <p:spPr>
          <a:xfrm>
            <a:off x="9555480" y="685800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 계통 핵심 데이터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전해조 스택 전류·전압, 셀 전압 배열 1초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산소 중 수소·순수 전도도·이슬점 1~10초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압축기 단별 압력·온도, 저장뱅크 압력·온도</a:t>
            </a:r>
            <a:endParaRPr lang="ko-KR" sz="23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86개: 동봉 엑셀 ‘수집데이터_수소’ 시트</a:t>
            </a:r>
            <a:endParaRPr lang="ko-KR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태양광·ESS에서 보통 받는 핵심 데이터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6459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468880"/>
                <a:gridCol w="54864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데이터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 수 있는 것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계량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계통 송·수전 전력량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기준 발전량, 교류측 손실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기상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경사면 일사·모듈온도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기대발전량, 온도보정 PR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인버터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교류 전력·kWh, 고장코드 원문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1분·이벤트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변환효율, 트립 원인·가용률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출력제어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출력제한 설정값, 출력제어 지령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변경 시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출력제어 손실과 고장 손실 분리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스트링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스트링 전류, MPPT 채널 전압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스트링 개방·다이오드 단락 위치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ESS 셀·BMS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셀 전압·온도·SOC, 절연저항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10초~1분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약한 셀, 충전율 준수, 화재 전조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7964424"/>
            <a:ext cx="16459200" cy="1591056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5"/>
          <p:cNvSpPr/>
          <p:nvPr/>
        </p:nvSpPr>
        <p:spPr>
          <a:xfrm>
            <a:off x="1234440" y="8074152"/>
            <a:ext cx="1581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항목 중심 요약이며 주기는 권장 간격입니다(NREL 2019, IEC 61724-1 2차 요약). 전체 103개는 동봉 엑셀 ‘수집데이터_전력’ 시트에 있습니다.</a:t>
            </a:r>
            <a:endParaRPr lang="ko-KR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수소발전에서 보통 받는 핵심 데이터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6459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468880"/>
                <a:gridCol w="54864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데이터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 수 있는 것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전해조 스택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스택 전류·전압, 셀 전압 배열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기준조건 전압 추세, 약한 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전해조 계량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정류기·주변설비 전력량, 수소 유량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1분 적산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비소비전력(kWh/kg)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가스·수질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산소 중 수소, 순수 전도도, 이슬점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1~10초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여유, 막 열화, 흡착제 열화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압축·저장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흡입 산소, 단별 압력·온도, 뱅크 압력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1~10초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산소 혼입, kWh/kg 추세, 누설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안전계통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검지기 원시값, 비상차단 원인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1초·이벤트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저농도 누출, 보호 무력화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연료전지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셀 전압 배열, 수소 유량·순출력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1~10초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기준전류 전압 추세, 수소원단위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7964424"/>
            <a:ext cx="16459200" cy="1591056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5"/>
          <p:cNvSpPr/>
          <p:nvPr/>
        </p:nvSpPr>
        <p:spPr>
          <a:xfrm>
            <a:off x="1234440" y="8074152"/>
            <a:ext cx="1581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신호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가스 누출·비상정지는 월간 분석과 별도로 현장 인터록과 안전관리자가 즉시 판단합니다. 전체 86개는 동봉 엑셀 ‘수집데이터_수소’ 시트에 있습니다.</a:t>
            </a:r>
            <a:endParaRPr lang="ko-KR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계측 외 데이터는 계약과 양식으로 확보합니다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계측값만으로는 원인과 정답을 알 수 없습니다. 전체 131행은 동봉 엑셀 ‘운영·비정형 데이터’ 시트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8092440" cy="20894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24612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520440"/>
            <a:ext cx="75438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라벨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정비이력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배울 정답 라벨입니다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설비ID·증상·정지 시간·조치·교체 부품·사진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필드로 남깁니다(설계 제안)</a:t>
            </a:r>
            <a:endParaRPr lang="ko-KR" sz="1600" dirty="0"/>
          </a:p>
        </p:txBody>
      </p:sp>
      <p:sp>
        <p:nvSpPr>
          <p:cNvPr id="11" name="Shape 8"/>
          <p:cNvSpPr/>
          <p:nvPr/>
        </p:nvSpPr>
        <p:spPr>
          <a:xfrm>
            <a:off x="9281160" y="3246120"/>
            <a:ext cx="8092440" cy="20894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81160" y="324612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3" name="Text 10"/>
          <p:cNvSpPr/>
          <p:nvPr/>
        </p:nvSpPr>
        <p:spPr>
          <a:xfrm>
            <a:off x="9555480" y="3520440"/>
            <a:ext cx="75438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알람코드 사전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제조사·모델·펌웨어별로 관리합니다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고장 분류(ISO 14224)에 연결합니다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계약에 없으면 요약 KPI만 받게 됩니다</a:t>
            </a:r>
            <a:endParaRPr lang="ko-KR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609844"/>
            <a:ext cx="8092440" cy="20894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5609844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5884164"/>
            <a:ext cx="75438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기준값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명판·설정값 이력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시운전 성능값이 열화 판정의 출발점입니다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충전율 상한·펌웨어 변경 전후 값을 남깁니다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계단식 변화를 열화로 오판합니다</a:t>
            </a:r>
            <a:endParaRPr lang="ko-KR" sz="1600" dirty="0"/>
          </a:p>
        </p:txBody>
      </p:sp>
      <p:sp>
        <p:nvSpPr>
          <p:cNvPr id="17" name="Shape 14"/>
          <p:cNvSpPr/>
          <p:nvPr/>
        </p:nvSpPr>
        <p:spPr>
          <a:xfrm>
            <a:off x="9281160" y="5609844"/>
            <a:ext cx="8092440" cy="20894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81160" y="5609844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9" name="Text 16"/>
          <p:cNvSpPr/>
          <p:nvPr/>
        </p:nvSpPr>
        <p:spPr>
          <a:xfrm>
            <a:off x="9555480" y="5884164"/>
            <a:ext cx="7543800" cy="16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 데이터 접근권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원시 데이터는 발전사업자 소유(SolarPower Europe)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1분 이하, 트립 전후 1초, 버퍼 90일(설계 제안)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 설비는 구매계약 전에 넣습니다</a:t>
            </a:r>
            <a:endParaRPr lang="ko-KR" sz="1600" dirty="0"/>
          </a:p>
        </p:txBody>
      </p:sp>
      <p:sp>
        <p:nvSpPr>
          <p:cNvPr id="20" name="Shape 17"/>
          <p:cNvSpPr/>
          <p:nvPr/>
        </p:nvSpPr>
        <p:spPr>
          <a:xfrm>
            <a:off x="914400" y="7973568"/>
            <a:ext cx="16459200" cy="1261872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8083296"/>
            <a:ext cx="15819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 전압 배열·BMS 사고 기록은 제조사만 가진 경우가 많아, 계약에 없으면 셀 단위 조기 탐지와 스택 수명 예측을 할 수 없습니다.</a:t>
            </a:r>
            <a:endParaRPr lang="ko-KR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태양광은 햇수로, 스택은 운전시간으로 봅니다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63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기대수명(년)</a:t>
            </a:r>
            <a:endParaRPr lang="ko-KR" sz="2200" dirty="0"/>
          </a:p>
        </p:txBody>
      </p:sp>
      <p:pic>
        <p:nvPicPr>
          <p:cNvPr id="8" name="Image 1" descr="C:\Users\jungm\AppData\Local\Temp\claude\c--Users-jungm-Desktop-projects-simple-solar-dashboard\d489bc63-0117-4773-8ee7-099d2a95864b\scratchpad\docbuild\first\out\charts\lifespan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63" y="3611880"/>
            <a:ext cx="7087953" cy="4078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320" y="3063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 운전시간 수명</a:t>
            </a:r>
            <a:endParaRPr lang="ko-KR" sz="2200" dirty="0"/>
          </a:p>
        </p:txBody>
      </p:sp>
      <p:pic>
        <p:nvPicPr>
          <p:cNvPr id="10" name="Image 2" descr="C:\Users\jungm\AppData\Local\Temp\claude\c--Users-jungm-Desktop-projects-simple-solar-dashboard\d489bc63-0117-4773-8ee7-099d2a95864b\scratchpad\docbuild\first\out\charts\stack-hours-sl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983" y="3611880"/>
            <a:ext cx="7087953" cy="40782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7964424"/>
            <a:ext cx="16459200" cy="1591056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2" name="Text 7"/>
          <p:cNvSpPr/>
          <p:nvPr/>
        </p:nvSpPr>
        <p:spPr>
          <a:xfrm>
            <a:off x="1234440" y="8074152"/>
            <a:ext cx="1581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인버터는 통상 15년(BFH 2022)이라 사업 중 한 번은 교체를 준비합니다. 스택은 켜진 시간만큼 닳고, 기동정지와 OCV 대기가 열화를 키웁니다(Weiß 2019). 스택 교체비는 전해조 투자비의 35~45%입니다(EPRI 2022).</a:t>
            </a:r>
            <a:endParaRPr lang="ko-KR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노후는 ‘같은 조건’에서 비교해야 보입니다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6459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583680"/>
                <a:gridCol w="6583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노후 신호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방법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PV 모듈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정규화 발전량이 해마다 감소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전년 동기 비교, 2년 이상(NREL 2024)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인버터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부하·외기에서 방열판 온도차 상승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조건 비교, 분기 추세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ESS 랙·셀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전압 구간 충전 Ah 감소, 셀 편차 확대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Ah 기준 조건 비교, 랙 중앙값 비교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PEM 전해조 스택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전류밀도에서 셀 평균전압 상승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1,000 h 제외 후 운전시간 추세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수소 압축기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압력비에서 kWh/kg 상승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압력비 구간별 비교, 월별 추세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PEM 연료전지 스택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전류에서 셀 전압 하락, 최저셀 반복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조건 비교, 분기 추세, 셀 간 비교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8092440"/>
            <a:ext cx="16459200" cy="1261872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5"/>
          <p:cNvSpPr/>
          <p:nvPr/>
        </p:nvSpPr>
        <p:spPr>
          <a:xfrm>
            <a:off x="1234440" y="8202168"/>
            <a:ext cx="15819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방법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조건 비교, 추세(Theil–Sen), 동종 비교, 전년 동기 비교를 씁니다. 점검 임계값은 설비 사양과 초기 운전 데이터로 정합니다.</a:t>
            </a:r>
            <a:endParaRPr lang="ko-KR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충전 8h→7.5h는 용량 감소 의심 신호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예시: 연 3%p 감소 가정(PNNL 2022 기반), 7년차 82%, 80% 검토선(실측 아님)</a:t>
            </a:r>
            <a:endParaRPr lang="ko-KR" sz="1600" dirty="0"/>
          </a:p>
        </p:txBody>
      </p:sp>
      <p:pic>
        <p:nvPicPr>
          <p:cNvPr id="8" name="Image 1" descr="C:\Users\jungm\AppData\Local\Temp\claude\c--Users-jungm-Desktop-projects-simple-solar-dashboard\d489bc63-0117-4773-8ee7-099d2a95864b\scratchpad\docbuild\first\out\charts\ess-trend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9619211" cy="5989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155680" y="3246120"/>
            <a:ext cx="621792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521440" y="3566160"/>
            <a:ext cx="548640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ko-KR" altLang="en-US" sz="24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해석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전류·시작점이면 Ah 약 6.25% 감소 의심(계산)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충전전류가 바뀌므로 시간 대신 Ah로 판단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오탐: 저온·SOC 재보정·상한 변경·셀 불균형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감소는 월 약 0.25%p(계산)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달에 6.25%면 오탐·셀 이상부터 확인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추세는 분기, 보강·교체 판단은 연간 리포트</a:t>
            </a:r>
            <a:endParaRPr lang="ko-KR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월간은 이상, 분기는 추세, 연간은 수명을 판정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분석 항목 47개를 주기별로 집계(중복 포함, 엑셀 ‘분석항목×주기’) · PV 열화율 기준: IEA PVPS T13-22</a:t>
            </a:r>
            <a:endParaRPr lang="ko-KR" sz="1600" dirty="0"/>
          </a:p>
        </p:txBody>
      </p:sp>
      <p:pic>
        <p:nvPicPr>
          <p:cNvPr id="8" name="Image 1" descr="C:\Users\jungm\AppData\Local\Temp\claude\c--Users-jungm-Desktop-projects-simple-solar-dashboard\d489bc63-0117-4773-8ee7-099d2a95864b\scratchpad\docbuild\first\out\charts\cadence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9619211" cy="5989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155680" y="3246120"/>
            <a:ext cx="621792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521440" y="3566160"/>
            <a:ext cx="548640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ko-KR" altLang="en-US" sz="24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주기별 판정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36개: PR·가용률·트립 등 이상·손실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15개: ESS 용량·스택 전압 추세(잠정)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23개: PV 열화율·잔여수명·적립금(확정)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 월 열화 0.04~0.06%p(계산)는 오염 잡음보다 작습니다</a:t>
            </a:r>
            <a:endParaRPr lang="ko-KR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 열화율은 24개월부터, 신뢰값은 3~5년치</a:t>
            </a:r>
            <a:endParaRPr lang="ko-KR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리포트 예시: 이번 달 무엇이 잘못됐나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예시: 가상 사이트 A(태양광 1 MWp + ESS 2 MWh)·B(연계형) 운전 2년차 5월 가상 수치. 구성은 엑셀 ‘정기 리포트 구성’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16459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246120"/>
            <a:ext cx="292608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461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ko-KR" sz="2600" dirty="0"/>
          </a:p>
        </p:txBody>
      </p:sp>
      <p:sp>
        <p:nvSpPr>
          <p:cNvPr id="11" name="Text 8"/>
          <p:cNvSpPr/>
          <p:nvPr/>
        </p:nvSpPr>
        <p:spPr>
          <a:xfrm>
            <a:off x="4160520" y="3246120"/>
            <a:ext cx="1289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사이트 A 5월 발전량은 기상보정 기대치의 94.6%, 출력제어를 뺀 에너지 가용률은 98.8%입니다</a:t>
            </a:r>
            <a:endParaRPr lang="ko-KR" sz="2200" dirty="0"/>
          </a:p>
        </p:txBody>
      </p:sp>
      <p:sp>
        <p:nvSpPr>
          <p:cNvPr id="12" name="Shape 9"/>
          <p:cNvSpPr/>
          <p:nvPr/>
        </p:nvSpPr>
        <p:spPr>
          <a:xfrm>
            <a:off x="914400" y="4480560"/>
            <a:ext cx="16459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480560"/>
            <a:ext cx="292608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480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손실·알람</a:t>
            </a:r>
            <a:endParaRPr lang="ko-KR" sz="2600" dirty="0"/>
          </a:p>
        </p:txBody>
      </p:sp>
      <p:sp>
        <p:nvSpPr>
          <p:cNvPr id="15" name="Text 12"/>
          <p:cNvSpPr/>
          <p:nvPr/>
        </p:nvSpPr>
        <p:spPr>
          <a:xfrm>
            <a:off x="4160520" y="4480560"/>
            <a:ext cx="1289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출력제어 2.1%p, INV-03 트립 1.2%p, 오염 1.6%p(추정), 기타 0.5%p. 트립 손실 1% 초과로 수시 리포트 발행</a:t>
            </a:r>
            <a:endParaRPr lang="ko-KR" sz="2200" dirty="0"/>
          </a:p>
        </p:txBody>
      </p:sp>
      <p:sp>
        <p:nvSpPr>
          <p:cNvPr id="16" name="Shape 13"/>
          <p:cNvSpPr/>
          <p:nvPr/>
        </p:nvSpPr>
        <p:spPr>
          <a:xfrm>
            <a:off x="914400" y="5715000"/>
            <a:ext cx="16459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5715000"/>
            <a:ext cx="292608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715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ESS</a:t>
            </a:r>
            <a:endParaRPr lang="ko-KR" sz="2600" dirty="0"/>
          </a:p>
        </p:txBody>
      </p:sp>
      <p:sp>
        <p:nvSpPr>
          <p:cNvPr id="19" name="Text 16"/>
          <p:cNvSpPr/>
          <p:nvPr/>
        </p:nvSpPr>
        <p:spPr>
          <a:xfrm>
            <a:off x="4160520" y="5715000"/>
            <a:ext cx="1289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월평균 RTE 86.1%로 정격 88%보다 낮고, Rack-3 Module-11 셀 전압 편차가 2개월 연속 커졌습니다</a:t>
            </a:r>
            <a:endParaRPr lang="ko-KR" sz="2200" dirty="0"/>
          </a:p>
        </p:txBody>
      </p:sp>
      <p:sp>
        <p:nvSpPr>
          <p:cNvPr id="20" name="Shape 17"/>
          <p:cNvSpPr/>
          <p:nvPr/>
        </p:nvSpPr>
        <p:spPr>
          <a:xfrm>
            <a:off x="914400" y="6949440"/>
            <a:ext cx="16459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6949440"/>
            <a:ext cx="292608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6949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 설비</a:t>
            </a:r>
            <a:endParaRPr lang="ko-KR" sz="2600" dirty="0"/>
          </a:p>
        </p:txBody>
      </p:sp>
      <p:sp>
        <p:nvSpPr>
          <p:cNvPr id="23" name="Text 20"/>
          <p:cNvSpPr/>
          <p:nvPr/>
        </p:nvSpPr>
        <p:spPr>
          <a:xfrm>
            <a:off x="4160520" y="6949440"/>
            <a:ext cx="1289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사이트 B 전해조 30~60% 부하 54.8 kWh/kg(기준 +1.7%), 기동정지 62회, OCV 대기 118 h</a:t>
            </a:r>
            <a:endParaRPr lang="ko-KR" sz="2200" dirty="0"/>
          </a:p>
        </p:txBody>
      </p:sp>
      <p:sp>
        <p:nvSpPr>
          <p:cNvPr id="24" name="Shape 21"/>
          <p:cNvSpPr/>
          <p:nvPr/>
        </p:nvSpPr>
        <p:spPr>
          <a:xfrm>
            <a:off x="914400" y="8183880"/>
            <a:ext cx="16459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8183880"/>
            <a:ext cx="2926080" cy="10515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81838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권고</a:t>
            </a:r>
            <a:endParaRPr lang="ko-KR" sz="2600" dirty="0"/>
          </a:p>
        </p:txBody>
      </p:sp>
      <p:sp>
        <p:nvSpPr>
          <p:cNvPr id="27" name="Text 24"/>
          <p:cNvSpPr/>
          <p:nvPr/>
        </p:nvSpPr>
        <p:spPr>
          <a:xfrm>
            <a:off x="4160520" y="8183880"/>
            <a:ext cx="1289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A는 모듈 세척(월 약 2 MWh 회수, 14~30일 온도보정 PR로 검증), B는 정지 중 보호전위 유지 검토</a:t>
            </a:r>
            <a:endParaRPr lang="ko-KR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분기는 추세(잠정), 연간은 수명·예산(확정)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예시 · 가상 사이트 A: 태양광 1 MWp + ESS 2 MWh · B: 태양광 2 MWp + ESS 1 MWh + 전해조 500 kW + 압축·저장 + 연료전지 200 kW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분기는 월간 결과를 묶어 추세를 보고, 연간은 계약 성과·수명·교체·예산을 확정합니다.</a:t>
            </a:r>
            <a:endParaRPr lang="ko-KR" sz="2100" dirty="0"/>
          </a:p>
        </p:txBody>
      </p:sp>
      <p:sp>
        <p:nvSpPr>
          <p:cNvPr id="9" name="Shape 6"/>
          <p:cNvSpPr/>
          <p:nvPr/>
        </p:nvSpPr>
        <p:spPr>
          <a:xfrm>
            <a:off x="914400" y="4023360"/>
            <a:ext cx="8092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402336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297680"/>
            <a:ext cx="7543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· A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ESS 용량 추세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조건 세션 기준 초기 대비 95.2%(잠정, 예시)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4개 분기 추세 연 −3.0%p(잠정, 예시)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 검토선 도달은 8년차 전후(계산, 예시)</a:t>
            </a:r>
            <a:endParaRPr lang="ko-KR" sz="1600" dirty="0"/>
          </a:p>
        </p:txBody>
      </p:sp>
      <p:sp>
        <p:nvSpPr>
          <p:cNvPr id="12" name="Shape 9"/>
          <p:cNvSpPr/>
          <p:nvPr/>
        </p:nvSpPr>
        <p:spPr>
          <a:xfrm>
            <a:off x="9281160" y="4023360"/>
            <a:ext cx="8092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81160" y="402336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4" name="Text 11"/>
          <p:cNvSpPr/>
          <p:nvPr/>
        </p:nvSpPr>
        <p:spPr>
          <a:xfrm>
            <a:off x="9555480" y="4297680"/>
            <a:ext cx="7543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· B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 전압 열화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활성화 뒤 2,100 h 셀 전압 상승 3.9 µV/h(잠정, 예시)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2022 현황 4.8 µV/h보다 낮음(DOE PEM 목표)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보호전위 유지 뒤 OCV 대기 월 118 h → 9 h(예시)</a:t>
            </a:r>
            <a:endParaRPr lang="ko-KR" sz="1600" dirty="0"/>
          </a:p>
        </p:txBody>
      </p:sp>
      <p:sp>
        <p:nvSpPr>
          <p:cNvPr id="15" name="Shape 12"/>
          <p:cNvSpPr/>
          <p:nvPr/>
        </p:nvSpPr>
        <p:spPr>
          <a:xfrm>
            <a:off x="914400" y="6766560"/>
            <a:ext cx="8092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676656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7040880"/>
            <a:ext cx="7543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· A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 열화율(YoY)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운전 36개월 YoY −0.62%/년(예시)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설비군 중앙값 −0.75%/년(NREL 2024)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신뢰값은 3~5년치 필요(IEA PVPS T13-22)</a:t>
            </a:r>
            <a:endParaRPr lang="ko-KR" sz="1600" dirty="0"/>
          </a:p>
        </p:txBody>
      </p:sp>
      <p:sp>
        <p:nvSpPr>
          <p:cNvPr id="18" name="Shape 15"/>
          <p:cNvSpPr/>
          <p:nvPr/>
        </p:nvSpPr>
        <p:spPr>
          <a:xfrm>
            <a:off x="9281160" y="6766560"/>
            <a:ext cx="8092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6766560"/>
            <a:ext cx="80924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20" name="Text 17"/>
          <p:cNvSpPr/>
          <p:nvPr/>
        </p:nvSpPr>
        <p:spPr>
          <a:xfrm>
            <a:off x="9555480" y="7040880"/>
            <a:ext cx="7543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600" b="1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· A·B</a:t>
            </a:r>
            <a:endParaRPr lang="ko-KR" sz="1600" dirty="0"/>
          </a:p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 적립금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인버터 평균고장간격 약 11~12년(IEA PVPS T13-25)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연료전지 스택 잔여 약 15년(계산, 예시)</a:t>
            </a:r>
            <a:endParaRPr lang="ko-KR" sz="16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적립금 = 교체 견적 ÷ 교체까지 남은 햇수</a:t>
            </a:r>
            <a:endParaRPr lang="ko-KR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여지는 손실 분해와 운전 패턴에서 찾습니다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6459200" cy="914400"/>
        </p:xfrm>
        <a:graphic>
          <a:graphicData uri="http://schemas.openxmlformats.org/drawingml/2006/table">
            <a:tbl>
              <a:tblPr/>
              <a:tblGrid>
                <a:gridCol w="1986455"/>
                <a:gridCol w="3689131"/>
                <a:gridCol w="4540469"/>
                <a:gridCol w="4256690"/>
                <a:gridCol w="1986455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항목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기대효과·근거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출처·조건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태양광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인버터 트립 원인 제거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하위 10% → 중앙값, +4%p(계산)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NREL 2024, 초기 6개월 제외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월·분기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ESS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셀 온도 20~30°C 유지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수명 4.9년 → 7.0년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Smith 2017 모델·DOD 74%·70%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월·분기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ESS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고SOC 완충 후 대기 축소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 충전율 이상 완충 후 대기 23/25건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 2021~2024.6(한국전기안전공사)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50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전해조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정지 중 OCV 대기 회피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OCV 포함 718사이클 뒤 셀 HFR 약 1.6배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Weiß 2019, 실험실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월·분기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전해조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수질 관리 강화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셀 이슈 81%가 고객측 오염(주로 물)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EPRI 2022, 제조사 6년 실적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연료전지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부하변동 완화(ESS 버퍼)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사이클당 전압 열화 19 → 10 µV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cm² 단셀, Chandran 2022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9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월·분기</a:t>
                      </a:r>
                      <a:endParaRPr lang="ko-KR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7964424"/>
            <a:ext cx="16459200" cy="1591056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5"/>
          <p:cNvSpPr/>
          <p:nvPr/>
        </p:nvSpPr>
        <p:spPr>
          <a:xfrm>
            <a:off x="1234440" y="8074152"/>
            <a:ext cx="1581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기대효과는 출처의 대상·조건 값이며 약속값이 아닙니다. 조치 전후를 같은 조건으로 비교해 검증합니다. 18개 전체는 엑셀 ‘개선항목·기대효과’ 시트에 있습니다.</a:t>
            </a:r>
            <a:endParaRPr lang="ko-KR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ngm\AppData\Local\Temp\claude\c--Users-jungm-Desktop-projects-simple-solar-dashboard\d489bc63-0117-4773-8ee7-099d2a95864b\scratchpad\docbuild\assets\fir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0" y="502920"/>
            <a:ext cx="246888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66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ko-KR" altLang="en-US" sz="66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ko-KR" sz="6600" dirty="0"/>
          </a:p>
        </p:txBody>
      </p:sp>
      <p:sp>
        <p:nvSpPr>
          <p:cNvPr id="4" name="Text 1"/>
          <p:cNvSpPr/>
          <p:nvPr/>
        </p:nvSpPr>
        <p:spPr>
          <a:xfrm>
            <a:off x="914400" y="1600200"/>
            <a:ext cx="1600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· 결론과 다음 단계</a:t>
            </a:r>
            <a:endParaRPr lang="ko-KR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2852928"/>
            <a:ext cx="1645920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25496"/>
            <a:ext cx="283464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55548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F63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초기 고장 집중: 운전 시점이 알려진 ESS 고장의 72%가 시공·시운전·운전 2년 안에 발생(EPRI 2024)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16459200" cy="1261872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355848"/>
            <a:ext cx="15819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22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ko-KR" sz="2200" dirty="0"/>
          </a:p>
          <a:p>
            <a:pPr indent="0" marL="0">
              <a:buNone/>
            </a:pPr>
            <a:r>
              <a:rPr lang="ko-KR" altLang="en-US" sz="2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받는 데이터 189개를 같은 조건으로 쌓고 주기별 판정 수준을 나누면, 발전소별 노후와 개선 여지를 근거와 함께 설명할 수 있습니다.</a:t>
            </a:r>
            <a:endParaRPr lang="ko-KR" sz="2200" dirty="0"/>
          </a:p>
        </p:txBody>
      </p:sp>
      <p:sp>
        <p:nvSpPr>
          <p:cNvPr id="10" name="Shape 7"/>
          <p:cNvSpPr/>
          <p:nvPr/>
        </p:nvSpPr>
        <p:spPr>
          <a:xfrm>
            <a:off x="914400" y="4782312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4782312"/>
            <a:ext cx="530352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102352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실측이 아닌 문헌·표준 기반, 리포트 수치는 가상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 데이터 접근권이 없으면 셀·스택 판정 불가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1~2년은 고장 집중, 이상 탐지 우선</a:t>
            </a:r>
            <a:endParaRPr lang="ko-KR" sz="2300" dirty="0"/>
          </a:p>
        </p:txBody>
      </p:sp>
      <p:sp>
        <p:nvSpPr>
          <p:cNvPr id="13" name="Shape 10"/>
          <p:cNvSpPr/>
          <p:nvPr/>
        </p:nvSpPr>
        <p:spPr>
          <a:xfrm>
            <a:off x="6492240" y="4782312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4782312"/>
            <a:ext cx="530352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5102352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115개 중심으로 벤더와 데이터 계약 협의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정비이력·알람코드 표준 양식 확정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3개월 기준값 수집 → 월간 리포트 시범</a:t>
            </a:r>
            <a:endParaRPr lang="ko-KR" sz="2300" dirty="0"/>
          </a:p>
        </p:txBody>
      </p:sp>
      <p:sp>
        <p:nvSpPr>
          <p:cNvPr id="16" name="Shape 13"/>
          <p:cNvSpPr/>
          <p:nvPr/>
        </p:nvSpPr>
        <p:spPr>
          <a:xfrm>
            <a:off x="12070080" y="4782312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070080" y="4782312"/>
            <a:ext cx="5303520" cy="64008"/>
          </a:xfrm>
          <a:prstGeom prst="rect">
            <a:avLst/>
          </a:prstGeom>
          <a:solidFill>
            <a:srgbClr val="3E7EE7"/>
          </a:solidFill>
          <a:ln/>
        </p:spPr>
      </p:sp>
      <p:sp>
        <p:nvSpPr>
          <p:cNvPr id="18" name="Text 15"/>
          <p:cNvSpPr/>
          <p:nvPr/>
        </p:nvSpPr>
        <p:spPr>
          <a:xfrm>
            <a:off x="12390120" y="5102352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ko-KR" altLang="en-US" sz="2300" b="1" dirty="0">
                <a:solidFill>
                  <a:srgbClr val="4081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월간: 손실·트립·오염을 원인별로 나눠 조치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분기·연간: 용량·스택 추세로 교체·보강 시점 판단</a:t>
            </a:r>
            <a:endParaRPr lang="ko-KR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구매 전에 계약에 넣을 수집 목록 확보</a:t>
            </a:r>
            <a:endParaRPr lang="ko-KR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 데이터로 보는 수명과 개선 여지</dc:title>
  <dc:subject>PptxGenJS Presentation</dc:subject>
  <dc:creator>주식회사 퍼스트씨앤디</dc:creator>
  <cp:lastModifiedBy>주식회사 퍼스트씨앤디</cp:lastModifiedBy>
  <cp:revision>1</cp:revision>
  <dcterms:created xsi:type="dcterms:W3CDTF">2026-09-14T11:18:25Z</dcterms:created>
  <dcterms:modified xsi:type="dcterms:W3CDTF">2026-09-14T11:18:25Z</dcterms:modified>
</cp:coreProperties>
</file>