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256032"/>
          </a:xfrm>
          <a:prstGeom prst="rect">
            <a:avLst/>
          </a:prstGeom>
          <a:solidFill>
            <a:srgbClr val="3E7EE7"/>
          </a:solidFill>
          <a:ln/>
        </p:spPr>
      </p:sp>
      <p:pic>
        <p:nvPicPr>
          <p:cNvPr id="3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51560"/>
            <a:ext cx="3108960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3383280"/>
            <a:ext cx="1645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태양광·수소 발전 데이터 분석 예상안 · 제2판</a:t>
            </a:r>
            <a:endParaRPr lang="ko-KR" sz="3000" dirty="0"/>
          </a:p>
        </p:txBody>
      </p:sp>
      <p:sp>
        <p:nvSpPr>
          <p:cNvPr id="5" name="Shape 2"/>
          <p:cNvSpPr/>
          <p:nvPr/>
        </p:nvSpPr>
        <p:spPr>
          <a:xfrm>
            <a:off x="914400" y="4041648"/>
            <a:ext cx="3840480" cy="7315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4206240"/>
            <a:ext cx="1645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7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데이터로 보는 수명과 개선 여지</a:t>
            </a:r>
            <a:endParaRPr lang="ko-KR" sz="7600" dirty="0"/>
          </a:p>
          <a:p>
            <a:pPr indent="0" marL="0">
              <a:spcBef>
                <a:spcPts val="1400"/>
              </a:spcBef>
              <a:buNone/>
            </a:pPr>
            <a:r>
              <a:rPr lang="ko-KR" altLang="en-US" sz="3000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 · AI 분석 · 리포트 · 실제 도면 적용 사례</a:t>
            </a:r>
            <a:endParaRPr lang="ko-KR" sz="7600" dirty="0"/>
          </a:p>
        </p:txBody>
      </p:sp>
      <p:sp>
        <p:nvSpPr>
          <p:cNvPr id="7" name="Shape 4"/>
          <p:cNvSpPr/>
          <p:nvPr/>
        </p:nvSpPr>
        <p:spPr>
          <a:xfrm>
            <a:off x="914400" y="8321040"/>
            <a:ext cx="676656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8" name="Text 5"/>
          <p:cNvSpPr/>
          <p:nvPr/>
        </p:nvSpPr>
        <p:spPr>
          <a:xfrm>
            <a:off x="1234440" y="832104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퍼스트씨앤디      |      작성일 2026. 09. 17</a:t>
            </a:r>
            <a:endParaRPr lang="ko-KR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개요 · 목적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4612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324612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24612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</a:t>
            </a:r>
            <a:endParaRPr lang="ko-KR" sz="2600" dirty="0"/>
          </a:p>
        </p:txBody>
      </p:sp>
      <p:sp>
        <p:nvSpPr>
          <p:cNvPr id="10" name="Text 7"/>
          <p:cNvSpPr/>
          <p:nvPr/>
        </p:nvSpPr>
        <p:spPr>
          <a:xfrm>
            <a:off x="4160520" y="324612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데이터, 그 데이터로 수명·개선 여지를 아는 방법, 월·분기 AI 분석과 리포트 모습을 정리합니다</a:t>
            </a:r>
            <a:endParaRPr lang="ko-KR" sz="2200" dirty="0"/>
          </a:p>
        </p:txBody>
      </p:sp>
      <p:sp>
        <p:nvSpPr>
          <p:cNvPr id="11" name="Shape 8"/>
          <p:cNvSpPr/>
          <p:nvPr/>
        </p:nvSpPr>
        <p:spPr>
          <a:xfrm>
            <a:off x="914400" y="475488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475488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7548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endParaRPr lang="ko-KR" sz="2600" dirty="0"/>
          </a:p>
        </p:txBody>
      </p:sp>
      <p:sp>
        <p:nvSpPr>
          <p:cNvPr id="14" name="Text 11"/>
          <p:cNvSpPr/>
          <p:nvPr/>
        </p:nvSpPr>
        <p:spPr>
          <a:xfrm>
            <a:off x="4160520" y="475488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연계형 수소발전을 시작하며 공개 자료로 먼저 만든 예상안입니다. 2026년 7월 진행 예정 사업의 실제 P&amp;ID를 받아 적용 결과를 더했습니다</a:t>
            </a:r>
            <a:endParaRPr lang="ko-KR" sz="2200" dirty="0"/>
          </a:p>
        </p:txBody>
      </p:sp>
      <p:sp>
        <p:nvSpPr>
          <p:cNvPr id="15" name="Shape 12"/>
          <p:cNvSpPr/>
          <p:nvPr/>
        </p:nvSpPr>
        <p:spPr>
          <a:xfrm>
            <a:off x="914400" y="626364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626364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626364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</a:t>
            </a:r>
            <a:endParaRPr lang="ko-KR" sz="2600" dirty="0"/>
          </a:p>
        </p:txBody>
      </p:sp>
      <p:sp>
        <p:nvSpPr>
          <p:cNvPr id="18" name="Text 15"/>
          <p:cNvSpPr/>
          <p:nvPr/>
        </p:nvSpPr>
        <p:spPr>
          <a:xfrm>
            <a:off x="4160520" y="626364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태양광·ESS·계통, PEM 전해조, 수소 압축·저장·안전, PEM 연료전지와 공통 EMS·계량·보안</a:t>
            </a:r>
            <a:endParaRPr lang="ko-KR" sz="2200" dirty="0"/>
          </a:p>
        </p:txBody>
      </p:sp>
      <p:sp>
        <p:nvSpPr>
          <p:cNvPr id="19" name="Shape 16"/>
          <p:cNvSpPr/>
          <p:nvPr/>
        </p:nvSpPr>
        <p:spPr>
          <a:xfrm>
            <a:off x="914400" y="777240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14400" y="777240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1" name="Text 18"/>
          <p:cNvSpPr/>
          <p:nvPr/>
        </p:nvSpPr>
        <p:spPr>
          <a:xfrm>
            <a:off x="914400" y="777240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</a:t>
            </a:r>
            <a:endParaRPr lang="ko-KR" sz="2600" dirty="0"/>
          </a:p>
        </p:txBody>
      </p:sp>
      <p:sp>
        <p:nvSpPr>
          <p:cNvPr id="22" name="Text 19"/>
          <p:cNvSpPr/>
          <p:nvPr/>
        </p:nvSpPr>
        <p:spPr>
          <a:xfrm>
            <a:off x="4160520" y="777240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데이터는 계약에 적어야 확보됩니다. 계약 전 수집 목록과 리포트 설계의 출발점이자, 도면이 오면 바로 쓰는 절차서로 씁니다</a:t>
            </a:r>
            <a:endParaRPr lang="ko-KR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자료로 만들고 핵심 주장은 원문 대조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189개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데이터(필수 115)</a:t>
            </a:r>
            <a:endParaRPr lang="ko-KR" sz="5000" dirty="0"/>
          </a:p>
        </p:txBody>
      </p:sp>
      <p:sp>
        <p:nvSpPr>
          <p:cNvPr id="10" name="Shape 7"/>
          <p:cNvSpPr/>
          <p:nvPr/>
        </p:nvSpPr>
        <p:spPr>
          <a:xfrm>
            <a:off x="649224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9224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129건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정리한 AI 분석</a:t>
            </a:r>
            <a:endParaRPr lang="ko-KR" sz="5000" dirty="0"/>
          </a:p>
        </p:txBody>
      </p:sp>
      <p:sp>
        <p:nvSpPr>
          <p:cNvPr id="13" name="Shape 10"/>
          <p:cNvSpPr/>
          <p:nvPr/>
        </p:nvSpPr>
        <p:spPr>
          <a:xfrm>
            <a:off x="1207008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07008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5" name="Text 12"/>
          <p:cNvSpPr/>
          <p:nvPr/>
        </p:nvSpPr>
        <p:spPr>
          <a:xfrm>
            <a:off x="1225296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315건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원문과 대조한 핵심 주장</a:t>
            </a:r>
            <a:endParaRPr lang="ko-KR" sz="5000" dirty="0"/>
          </a:p>
        </p:txBody>
      </p:sp>
      <p:sp>
        <p:nvSpPr>
          <p:cNvPr id="16" name="Text 13"/>
          <p:cNvSpPr/>
          <p:nvPr/>
        </p:nvSpPr>
        <p:spPr>
          <a:xfrm>
            <a:off x="914400" y="5486400"/>
            <a:ext cx="1645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주장 315건 대조 결과(출처 604행 = 초판 485 + 도면 조사 119)</a:t>
            </a:r>
            <a:endParaRPr lang="ko-KR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6126480"/>
          <a:ext cx="164592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  <a:gridCol w="4114800"/>
                <a:gridCol w="41148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부분 확인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원문대로 사용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조건을 붙여 사용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수치를 쓰지 않음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기준으로 고치거나 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9" name="Text 1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문서의 성격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1~13장표는 공개 자료 기반 예상안이고 리포트 예시 수치는 가상입니다. 14~16장표는 실제 도면 검토 결과, 17~18장표는 구현 완료 기능입니다.</a:t>
            </a:r>
            <a:endParaRPr lang="ko-KR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변환 단계마다 전기와 수소를 계량해야 합니다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왕복효율은 저장 손실 제외(PNNL 2022). 전력 배분은 EMS가 태양광 변동·ESS 충전율·저장 압력·가격을 보고 정합니다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전기→수소→전기 왕복효율은 교류 기준 31~32%로, 리튬이온 ESS 82.59%보다 낮습니다(PNNL 2022).</a:t>
            </a:r>
            <a:endParaRPr lang="ko-KR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40690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전력</a:t>
            </a:r>
            <a:endParaRPr lang="ko-KR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4453128"/>
            <a:ext cx="6309360" cy="27432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4069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</a:t>
            </a:r>
            <a:endParaRPr lang="ko-KR" sz="1800" dirty="0"/>
          </a:p>
        </p:txBody>
      </p:sp>
      <p:sp>
        <p:nvSpPr>
          <p:cNvPr id="12" name="Shape 9"/>
          <p:cNvSpPr/>
          <p:nvPr/>
        </p:nvSpPr>
        <p:spPr>
          <a:xfrm>
            <a:off x="7680960" y="4453128"/>
            <a:ext cx="9692640" cy="2743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4617720"/>
            <a:ext cx="2926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5156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모듈·인버터·계통</a:t>
            </a:r>
            <a:endParaRPr lang="ko-KR" sz="2300" dirty="0"/>
          </a:p>
        </p:txBody>
      </p:sp>
      <p:sp>
        <p:nvSpPr>
          <p:cNvPr id="15" name="Text 12"/>
          <p:cNvSpPr/>
          <p:nvPr/>
        </p:nvSpPr>
        <p:spPr>
          <a:xfrm>
            <a:off x="384048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6" name="Shape 13"/>
          <p:cNvSpPr/>
          <p:nvPr/>
        </p:nvSpPr>
        <p:spPr>
          <a:xfrm>
            <a:off x="4297680" y="4617720"/>
            <a:ext cx="2926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3484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셀·BMS·PCS·공조</a:t>
            </a:r>
            <a:endParaRPr lang="ko-KR" sz="2300" dirty="0"/>
          </a:p>
        </p:txBody>
      </p:sp>
      <p:sp>
        <p:nvSpPr>
          <p:cNvPr id="18" name="Text 15"/>
          <p:cNvSpPr/>
          <p:nvPr/>
        </p:nvSpPr>
        <p:spPr>
          <a:xfrm>
            <a:off x="722376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9" name="Shape 16"/>
          <p:cNvSpPr/>
          <p:nvPr/>
        </p:nvSpPr>
        <p:spPr>
          <a:xfrm>
            <a:off x="768096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0" name="Text 17"/>
          <p:cNvSpPr/>
          <p:nvPr/>
        </p:nvSpPr>
        <p:spPr>
          <a:xfrm>
            <a:off x="781812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수전해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정류기·스택·순수설비</a:t>
            </a:r>
            <a:endParaRPr lang="ko-KR" sz="2300" dirty="0"/>
          </a:p>
        </p:txBody>
      </p:sp>
      <p:sp>
        <p:nvSpPr>
          <p:cNvPr id="21" name="Text 18"/>
          <p:cNvSpPr/>
          <p:nvPr/>
        </p:nvSpPr>
        <p:spPr>
          <a:xfrm>
            <a:off x="1060704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2" name="Shape 19"/>
          <p:cNvSpPr/>
          <p:nvPr/>
        </p:nvSpPr>
        <p:spPr>
          <a:xfrm>
            <a:off x="1106424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3" name="Text 20"/>
          <p:cNvSpPr/>
          <p:nvPr/>
        </p:nvSpPr>
        <p:spPr>
          <a:xfrm>
            <a:off x="1120140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압축·저장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압축기·저장용기·검지기</a:t>
            </a:r>
            <a:endParaRPr lang="ko-KR" sz="2300" dirty="0"/>
          </a:p>
        </p:txBody>
      </p:sp>
      <p:sp>
        <p:nvSpPr>
          <p:cNvPr id="24" name="Text 21"/>
          <p:cNvSpPr/>
          <p:nvPr/>
        </p:nvSpPr>
        <p:spPr>
          <a:xfrm>
            <a:off x="1399032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5" name="Shape 22"/>
          <p:cNvSpPr/>
          <p:nvPr/>
        </p:nvSpPr>
        <p:spPr>
          <a:xfrm>
            <a:off x="1444752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6" name="Text 23"/>
          <p:cNvSpPr/>
          <p:nvPr/>
        </p:nvSpPr>
        <p:spPr>
          <a:xfrm>
            <a:off x="1458468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연료전지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스택·공기·냉각·퍼지</a:t>
            </a:r>
            <a:endParaRPr lang="ko-KR" sz="2300" dirty="0"/>
          </a:p>
        </p:txBody>
      </p:sp>
      <p:sp>
        <p:nvSpPr>
          <p:cNvPr id="27" name="Shape 24"/>
          <p:cNvSpPr/>
          <p:nvPr/>
        </p:nvSpPr>
        <p:spPr>
          <a:xfrm>
            <a:off x="914400" y="6583680"/>
            <a:ext cx="8092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" y="658368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29" name="Text 26"/>
          <p:cNvSpPr/>
          <p:nvPr/>
        </p:nvSpPr>
        <p:spPr>
          <a:xfrm>
            <a:off x="1188720" y="6858000"/>
            <a:ext cx="75438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전력 계통 핵심 데이터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계량 15분, 인버터 전력·고장코드 1분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스트링 전류·MPPT 전압, 출력제어 지령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 셀 전압·온도·SOC 10초~1분, 절연저항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103개: 동봉 엑셀 ‘수집데이터_전력’ 시트</a:t>
            </a:r>
            <a:endParaRPr lang="ko-KR" sz="2300" dirty="0"/>
          </a:p>
        </p:txBody>
      </p:sp>
      <p:sp>
        <p:nvSpPr>
          <p:cNvPr id="30" name="Shape 27"/>
          <p:cNvSpPr/>
          <p:nvPr/>
        </p:nvSpPr>
        <p:spPr>
          <a:xfrm>
            <a:off x="9281160" y="6583680"/>
            <a:ext cx="8092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81160" y="658368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2" name="Text 29"/>
          <p:cNvSpPr/>
          <p:nvPr/>
        </p:nvSpPr>
        <p:spPr>
          <a:xfrm>
            <a:off x="9555480" y="6858000"/>
            <a:ext cx="75438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계통 핵심 데이터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전해조 스택 전류·전압, 셀 전압 배열 1초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 중 수소·순수 전도도·이슬점 1~10초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압축기 단별 압력·온도, 저장뱅크 압력·온도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본체 86개(부속 39개 포함 125행): 엑셀 ‘수집데이터_수소’</a:t>
            </a:r>
            <a:endParaRPr lang="ko-KR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태양광·ESS에서 보통 받는 핵심 데이터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86400"/>
                <a:gridCol w="2468880"/>
                <a:gridCol w="54864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데이터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 수 있는 것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계량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계통 송·수전 전력량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기준 발전량, 교류측 손실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경사면 일사·모듈온도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기대발전량, 온도보정 PR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교류 전력·kWh, 고장코드 원문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1분·이벤트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변환효율, 트립 원인·가용률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출력제한 설정값, 출력제어 지령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변경 시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출력제어 손실과 고장 손실 분리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 전류, MPPT 채널 전압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 개방·다이오드 단락 위치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 셀·BMS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전압·온도·SOC, 절연저항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10초~1분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약한 셀, 충전율 준수, 화재 전조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항목 중심 요약이며 주기는 권장 간격입니다(NREL 2019, IEC 61724-1 2차 요약). 전체 103개는 동봉 엑셀 ‘수집데이터_전력’ 시트에 있습니다.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수소발전에서 보통 받는 핵심 데이터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86400"/>
                <a:gridCol w="2468880"/>
                <a:gridCol w="54864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데이터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 수 있는 것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스택 전류·전압, 셀 전압 배열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기준조건 전압 추세, 약한 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 계량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정류기·주변설비 전력량, 수소 유량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 적산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비소비전력(kWh/kg)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가스·수질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 중 수소, 순수 전도도, 이슬점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 여유, 막 열화, 흡착제 열화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압축·저장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흡입 산소, 단별 압력·온도, 뱅크 압력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 혼입, kWh/kg 추세, 누설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안전계통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검지기 원시값, 비상차단 원인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1초·이벤트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저농도 누출, 보호 무력화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연료전지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전압 배열, 수소 유량·순출력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기준전류 전압 추세, 수소원단위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신호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가스 누출·비상정지는 월간 분석과 별도로 현장 인터록과 안전관리자가 즉시 판단합니다. 본체 86개는 동봉 엑셀 ‘수집데이터_수소’ 시트에 있습니다(부속 계통 39개를 더해 125행).</a:t>
            </a:r>
            <a:endParaRPr lang="ko-KR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계측 외 데이터는 계약과 양식으로 확보합니다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계측값만으로는 원인과 정답을 알 수 없습니다. 전체 136행은 동봉 엑셀 ‘운영·비정형 데이터’ 시트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520440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라벨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정비이력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배울 정답 라벨입니다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설비ID·증상·정지 시간·조치·교체 부품·사진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필드로 남깁니다(설계 제안)</a:t>
            </a:r>
            <a:endParaRPr lang="ko-KR" sz="1600" dirty="0"/>
          </a:p>
        </p:txBody>
      </p:sp>
      <p:sp>
        <p:nvSpPr>
          <p:cNvPr id="11" name="Shape 8"/>
          <p:cNvSpPr/>
          <p:nvPr/>
        </p:nvSpPr>
        <p:spPr>
          <a:xfrm>
            <a:off x="9281160" y="3246120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116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Text 10"/>
          <p:cNvSpPr/>
          <p:nvPr/>
        </p:nvSpPr>
        <p:spPr>
          <a:xfrm>
            <a:off x="9555480" y="3520440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알람코드 사전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제조사·모델·펌웨어별로 관리합니다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고장 분류(ISO 14224)에 연결합니다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계약에 없으면 요약 KPI만 받게 됩니다</a:t>
            </a:r>
            <a:endParaRPr lang="ko-KR" sz="1600" dirty="0"/>
          </a:p>
        </p:txBody>
      </p:sp>
      <p:sp>
        <p:nvSpPr>
          <p:cNvPr id="14" name="Shape 11"/>
          <p:cNvSpPr/>
          <p:nvPr/>
        </p:nvSpPr>
        <p:spPr>
          <a:xfrm>
            <a:off x="914400" y="5609844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5609844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5884164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기준값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명판·설정값 이력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시운전 성능값이 열화 판정의 출발점입니다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충전율 상한·펌웨어 변경 전후 값을 남깁니다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없으면 계단식 변화를 열화로 오판합니다</a:t>
            </a:r>
            <a:endParaRPr lang="ko-KR" sz="1600" dirty="0"/>
          </a:p>
        </p:txBody>
      </p:sp>
      <p:sp>
        <p:nvSpPr>
          <p:cNvPr id="17" name="Shape 14"/>
          <p:cNvSpPr/>
          <p:nvPr/>
        </p:nvSpPr>
        <p:spPr>
          <a:xfrm>
            <a:off x="9281160" y="5609844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5609844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555480" y="5884164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 데이터 접근권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원시 데이터는 발전사업자 소유(SolarPower Europe)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 1분 이하, 트립 전후 1초, 버퍼 90일(설계 제안)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설비는 구매계약 전에 넣습니다</a:t>
            </a:r>
            <a:endParaRPr lang="ko-KR" sz="1600" dirty="0"/>
          </a:p>
        </p:txBody>
      </p:sp>
      <p:sp>
        <p:nvSpPr>
          <p:cNvPr id="20" name="Shape 17"/>
          <p:cNvSpPr/>
          <p:nvPr/>
        </p:nvSpPr>
        <p:spPr>
          <a:xfrm>
            <a:off x="914400" y="7973568"/>
            <a:ext cx="16459200" cy="1261872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1" name="Text 18"/>
          <p:cNvSpPr/>
          <p:nvPr/>
        </p:nvSpPr>
        <p:spPr>
          <a:xfrm>
            <a:off x="1234440" y="8083296"/>
            <a:ext cx="15819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 전압 배열·BMS 사고 기록은 제조사만 가진 경우가 많아, 계약에 없으면 셀 단위 조기 탐지와 스택 수명 예측을 할 수 없습니다.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태양광은 햇수로, 스택은 운전시간으로 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063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기대수명(년)</a:t>
            </a:r>
            <a:endParaRPr lang="ko-KR" sz="2200" dirty="0"/>
          </a:p>
        </p:txBody>
      </p:sp>
      <p:pic>
        <p:nvPicPr>
          <p:cNvPr id="8" name="Image 1" descr="C:\Users\jungm\Desktop\projects\simple\solar-dashboard\docs\reports\_source\charts\lifespan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063" y="3611880"/>
            <a:ext cx="7087953" cy="40782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418320" y="3063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 운전시간 수명</a:t>
            </a:r>
            <a:endParaRPr lang="ko-KR" sz="2200" dirty="0"/>
          </a:p>
        </p:txBody>
      </p:sp>
      <p:pic>
        <p:nvPicPr>
          <p:cNvPr id="10" name="Image 2" descr="C:\Users\jungm\Desktop\projects\simple\solar-dashboard\docs\reports\_source\charts\stack-hours-sl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983" y="3611880"/>
            <a:ext cx="7087953" cy="40782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2" name="Text 7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인버터는 통상 15년(BFH 2022)이라 사업 중 한 번은 교체를 준비합니다. 스택은 켜진 시간만큼 닳고, 기동정지와 OCV 대기가 열화를 키웁니다(Weiß 2019). 스택 교체비는 전해조 투자비의 35~45%입니다(EPRI 2022).</a:t>
            </a:r>
            <a:endParaRPr lang="ko-KR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노후는 ‘같은 조건’에서 비교해야 보입니다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583680"/>
                <a:gridCol w="65836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노후 신호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 방법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PV 모듈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정규화 발전량이 해마다 감소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전년 동기 비교, 2년 이상(NREL 2024)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부하·외기에서 방열판 온도차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조건 비교, 분기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 랙·셀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전압 구간 충전 Ah 감소, 셀 편차 확대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Ah 기준 조건 비교, 랙 중앙값 비교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PEM 전해조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전류밀도에서 셀 평균전압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초기 1,000 h 제외 후 운전시간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수소 압축기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압력비에서 kWh/kg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압력비 구간별 비교, 월별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PEM 연료전지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전류에서 셀 전압 하락, 최저셀 반복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조건 비교, 분기 추세, 셀 간 비교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8092440"/>
            <a:ext cx="16459200" cy="1261872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202168"/>
            <a:ext cx="15819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방법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조건 비교, 추세(Theil–Sen), 동종 비교, 전년 동기 비교를 씁니다. 점검 임계값은 설비 사양과 초기 운전 데이터로 정합니다.</a:t>
            </a:r>
            <a:endParaRPr lang="ko-KR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예시: 충전 8h→7.5h는 용량 감소 의심 신호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예시: 연 3%p 감소 가정(PNNL 2022 기반), 7년차 82%, 80% 검토선(실측 아님)</a:t>
            </a:r>
            <a:endParaRPr lang="ko-KR" sz="1600" dirty="0"/>
          </a:p>
        </p:txBody>
      </p:sp>
      <p:pic>
        <p:nvPicPr>
          <p:cNvPr id="8" name="Image 1" descr="C:\Users\jungm\Desktop\projects\simple\solar-dashboard\docs\reports\_source\charts\ess-trend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46120"/>
            <a:ext cx="9619211" cy="5989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155680" y="3246120"/>
            <a:ext cx="6217920" cy="5989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521440" y="3566160"/>
            <a:ext cx="5486400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ko-KR" altLang="en-US" sz="24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해석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전류·시작점이면 Ah 약 6.25% 감소 의심(계산)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충전전류가 바뀌므로 시간 대신 Ah로 판단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오탐: 저온·SOC 재보정·상한 변경·셀 불균형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감소는 월 약 0.25%p(계산)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달에 6.25%면 오탐·셀 이상부터 확인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추세는 분기, 보강·교체 판단은 연간 리포트</a:t>
            </a:r>
            <a:endParaRPr lang="ko-KR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월간은 이상, 분기는 추세, 연간은 수명을 판정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분석 항목 50개(초판 47 + 가평 구성 3)를 주기별로 집계(중복 포함, 엑셀 ‘분석항목×주기’) · PV 열화율 기준: IEA PVPS T13-22</a:t>
            </a:r>
            <a:endParaRPr lang="ko-KR" sz="1600" dirty="0"/>
          </a:p>
        </p:txBody>
      </p:sp>
      <p:pic>
        <p:nvPicPr>
          <p:cNvPr id="8" name="Image 1" descr="C:\Users\jungm\Desktop\projects\simple\solar-dashboard\docs\reports\_source\charts\cadenc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46120"/>
            <a:ext cx="9619211" cy="5989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155680" y="3246120"/>
            <a:ext cx="6217920" cy="5989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521440" y="3566160"/>
            <a:ext cx="5486400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ko-KR" altLang="en-US" sz="24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주기별 판정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39개: PR·가용률·트립 등 이상·손실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16개: ESS 용량·스택 전압 추세(잠정)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23개: PV 열화율·잔여수명·적립금(확정)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월 열화 0.04~0.06%p(계산)는 오염 잡음보다 작습니다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열화율은 24개월부터, 신뢰값은 3~5년치</a:t>
            </a:r>
            <a:endParaRPr lang="ko-KR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리포트 예시: 이번 달 무엇이 잘못됐나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예시: 가상 사이트 A(태양광 1 MWp + ESS 2 MWh)·B(연계형) 운전 2년차 5월 가상 수치. 구성은 엑셀 ‘정기 리포트 구성’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24612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endParaRPr lang="ko-KR" sz="2600" dirty="0"/>
          </a:p>
        </p:txBody>
      </p:sp>
      <p:sp>
        <p:nvSpPr>
          <p:cNvPr id="11" name="Text 8"/>
          <p:cNvSpPr/>
          <p:nvPr/>
        </p:nvSpPr>
        <p:spPr>
          <a:xfrm>
            <a:off x="4160520" y="324612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사이트 A 5월 발전량은 기상보정 기대치의 94.6%, 출력제어를 뺀 에너지 가용률은 98.8%입니다</a:t>
            </a:r>
            <a:endParaRPr lang="ko-KR" sz="2200" dirty="0"/>
          </a:p>
        </p:txBody>
      </p:sp>
      <p:sp>
        <p:nvSpPr>
          <p:cNvPr id="12" name="Shape 9"/>
          <p:cNvSpPr/>
          <p:nvPr/>
        </p:nvSpPr>
        <p:spPr>
          <a:xfrm>
            <a:off x="914400" y="448056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448056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448056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손실·알람</a:t>
            </a:r>
            <a:endParaRPr lang="ko-KR" sz="2600" dirty="0"/>
          </a:p>
        </p:txBody>
      </p:sp>
      <p:sp>
        <p:nvSpPr>
          <p:cNvPr id="15" name="Text 12"/>
          <p:cNvSpPr/>
          <p:nvPr/>
        </p:nvSpPr>
        <p:spPr>
          <a:xfrm>
            <a:off x="4160520" y="448056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출력제어 2.1%p, INV-03 트립 1.2%p, 오염 1.6%p(추정), 기타 0.5%p. 트립 손실 1% 초과로 수시 리포트 발행</a:t>
            </a:r>
            <a:endParaRPr lang="ko-KR" sz="2200" dirty="0"/>
          </a:p>
        </p:txBody>
      </p:sp>
      <p:sp>
        <p:nvSpPr>
          <p:cNvPr id="16" name="Shape 13"/>
          <p:cNvSpPr/>
          <p:nvPr/>
        </p:nvSpPr>
        <p:spPr>
          <a:xfrm>
            <a:off x="914400" y="571500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4400" y="571500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57150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</a:t>
            </a:r>
            <a:endParaRPr lang="ko-KR" sz="2600" dirty="0"/>
          </a:p>
        </p:txBody>
      </p:sp>
      <p:sp>
        <p:nvSpPr>
          <p:cNvPr id="19" name="Text 16"/>
          <p:cNvSpPr/>
          <p:nvPr/>
        </p:nvSpPr>
        <p:spPr>
          <a:xfrm>
            <a:off x="4160520" y="571500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월평균 RTE 86.1%로 정격 88%보다 낮고, Rack-3 Module-11 셀 전압 편차가 2개월 연속 커졌습니다</a:t>
            </a:r>
            <a:endParaRPr lang="ko-KR" sz="2200" dirty="0"/>
          </a:p>
        </p:txBody>
      </p:sp>
      <p:sp>
        <p:nvSpPr>
          <p:cNvPr id="20" name="Shape 17"/>
          <p:cNvSpPr/>
          <p:nvPr/>
        </p:nvSpPr>
        <p:spPr>
          <a:xfrm>
            <a:off x="914400" y="694944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14400" y="694944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69494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설비</a:t>
            </a:r>
            <a:endParaRPr lang="ko-KR" sz="2600" dirty="0"/>
          </a:p>
        </p:txBody>
      </p:sp>
      <p:sp>
        <p:nvSpPr>
          <p:cNvPr id="23" name="Text 20"/>
          <p:cNvSpPr/>
          <p:nvPr/>
        </p:nvSpPr>
        <p:spPr>
          <a:xfrm>
            <a:off x="4160520" y="694944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사이트 B 전해조 30~60% 부하 54.8 kWh/kg(기준 +1.7%), 기동정지 62회, OCV 대기 118 h</a:t>
            </a:r>
            <a:endParaRPr lang="ko-KR" sz="2200" dirty="0"/>
          </a:p>
        </p:txBody>
      </p:sp>
      <p:sp>
        <p:nvSpPr>
          <p:cNvPr id="24" name="Shape 21"/>
          <p:cNvSpPr/>
          <p:nvPr/>
        </p:nvSpPr>
        <p:spPr>
          <a:xfrm>
            <a:off x="914400" y="818388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14400" y="818388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" y="818388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권고</a:t>
            </a:r>
            <a:endParaRPr lang="ko-KR" sz="2600" dirty="0"/>
          </a:p>
        </p:txBody>
      </p:sp>
      <p:sp>
        <p:nvSpPr>
          <p:cNvPr id="27" name="Text 24"/>
          <p:cNvSpPr/>
          <p:nvPr/>
        </p:nvSpPr>
        <p:spPr>
          <a:xfrm>
            <a:off x="4160520" y="818388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A는 모듈 세척(월 약 2 MWh 회수, 14~30일 온도보정 PR로 검증), B는 정지 중 보호전위 유지 검토</a:t>
            </a:r>
            <a:endParaRPr lang="ko-KR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분기는 추세(잠정), 연간은 수명·예산(확정)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 · 가상 사이트 A: 태양광 1 MWp + ESS 2 MWh · B: 태양광 2 MWp + ESS 1 MWh + 전해조 500 kW + 압축·저장 + 연료전지 200 kW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분기는 월간 결과를 묶어 추세를 보고, 연간은 계약 성과·수명·교체·예산을 확정합니다.</a:t>
            </a:r>
            <a:endParaRPr lang="ko-KR" sz="2100" dirty="0"/>
          </a:p>
        </p:txBody>
      </p:sp>
      <p:sp>
        <p:nvSpPr>
          <p:cNvPr id="9" name="Shape 6"/>
          <p:cNvSpPr/>
          <p:nvPr/>
        </p:nvSpPr>
        <p:spPr>
          <a:xfrm>
            <a:off x="914400" y="40233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40233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1" name="Text 8"/>
          <p:cNvSpPr/>
          <p:nvPr/>
        </p:nvSpPr>
        <p:spPr>
          <a:xfrm>
            <a:off x="1188720" y="42976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· A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 용량 추세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조건 세션 기준 초기 대비 95.2%(잠정,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4개 분기 추세 연 −3.0%p(잠정,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검토선 도달은 8년차 전후(계산, 예시)</a:t>
            </a:r>
            <a:endParaRPr lang="ko-KR" sz="1600" dirty="0"/>
          </a:p>
        </p:txBody>
      </p:sp>
      <p:sp>
        <p:nvSpPr>
          <p:cNvPr id="12" name="Shape 9"/>
          <p:cNvSpPr/>
          <p:nvPr/>
        </p:nvSpPr>
        <p:spPr>
          <a:xfrm>
            <a:off x="9281160" y="40233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281160" y="40233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4" name="Text 11"/>
          <p:cNvSpPr/>
          <p:nvPr/>
        </p:nvSpPr>
        <p:spPr>
          <a:xfrm>
            <a:off x="9555480" y="42976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· B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 전압 열화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활성화 뒤 2,100 h 셀 전압 상승 3.9 µV/h(잠정,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DOE 2022 현황 4.8 µV/h보다 낮음(DOE PEM 목표)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보호전위 유지 뒤 OCV 대기 월 118 h → 9 h(예시)</a:t>
            </a:r>
            <a:endParaRPr lang="ko-KR" sz="1600" dirty="0"/>
          </a:p>
        </p:txBody>
      </p:sp>
      <p:sp>
        <p:nvSpPr>
          <p:cNvPr id="15" name="Shape 12"/>
          <p:cNvSpPr/>
          <p:nvPr/>
        </p:nvSpPr>
        <p:spPr>
          <a:xfrm>
            <a:off x="914400" y="67665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67665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7" name="Text 14"/>
          <p:cNvSpPr/>
          <p:nvPr/>
        </p:nvSpPr>
        <p:spPr>
          <a:xfrm>
            <a:off x="1188720" y="70408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· A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열화율(YoY)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운전 36개월 YoY −0.62%/년(예시)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설비군 중앙값 −0.75%/년(NREL 2024)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신뢰값은 3~5년치 필요(IEA PVPS T13-22)</a:t>
            </a:r>
            <a:endParaRPr lang="ko-KR" sz="1600" dirty="0"/>
          </a:p>
        </p:txBody>
      </p:sp>
      <p:sp>
        <p:nvSpPr>
          <p:cNvPr id="18" name="Shape 15"/>
          <p:cNvSpPr/>
          <p:nvPr/>
        </p:nvSpPr>
        <p:spPr>
          <a:xfrm>
            <a:off x="9281160" y="67665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67665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20" name="Text 17"/>
          <p:cNvSpPr/>
          <p:nvPr/>
        </p:nvSpPr>
        <p:spPr>
          <a:xfrm>
            <a:off x="9555480" y="70408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· A·B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교체 적립금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인버터 평균고장간격 약 11~12년(IEA PVPS T13-25)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연료전지 스택 잔여 약 15년(계산,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적립금 = 교체 견적 ÷ 교체까지 남은 햇수</a:t>
            </a:r>
            <a:endParaRPr lang="ko-KR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여지는 손실 분해와 운전 패턴에서 찾습니다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1986455"/>
                <a:gridCol w="3689131"/>
                <a:gridCol w="4540469"/>
                <a:gridCol w="4256690"/>
                <a:gridCol w="1986455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영역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항목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기대효과·근거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출처·조건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태양광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 트립 원인 제거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하위 10% → 중앙값, +4%p(계산)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NREL 2024, 초기 6개월 제외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온도 20~30°C 유지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수명 4.9년 → 7.0년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Smith 2017 모델·DOD 74%·70%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고SOC 완충 후 대기 축소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 충전율 이상 완충 후 대기 23/25건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2021~2024.6(한국전기안전공사)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50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정지 중 OCV 대기 회피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OCV 포함 718사이클 뒤 셀 HFR 약 1.6배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Weiß 2019, 실험실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수질 관리 강화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이슈 81%가 고객측 오염(주로 물)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EPRI 2022, 제조사 6년 실적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연료전지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부하변동 완화(ESS 버퍼)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사이클당 전압 열화 19 → 10 µV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 cm² 단셀, Chandran 2022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기대효과는 출처의 대상·조건 값이며 약속값이 아닙니다. 조치 전후를 같은 조건으로 비교해 검증합니다. 18개 전체는 엑셀 ‘개선항목·기대효과’ 시트에 있습니다.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사업 도면을 그대로 넣어 봤습니다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도면의 계통 다섯 중 콘솔이 원래 알던 것은 둘(수전해·연료전지)뿐이었습니다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가평 2MW 청정수소발전 P&amp;ID(FCND-GP-PID-002 REV.2, 2026-07-17). 앞 세 단계는 운전 데이터 없이 끝났습니다.</a:t>
            </a:r>
            <a:endParaRPr lang="ko-KR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406908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도면·계약만으로 — 완료</a:t>
            </a:r>
            <a:endParaRPr lang="ko-KR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4453128"/>
            <a:ext cx="8001000" cy="2743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1" name="Text 8"/>
          <p:cNvSpPr/>
          <p:nvPr/>
        </p:nvSpPr>
        <p:spPr>
          <a:xfrm>
            <a:off x="9372600" y="406908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계기가 붙어야 — 대기</a:t>
            </a:r>
            <a:endParaRPr lang="ko-KR" sz="1800" dirty="0"/>
          </a:p>
        </p:txBody>
      </p:sp>
      <p:sp>
        <p:nvSpPr>
          <p:cNvPr id="12" name="Shape 9"/>
          <p:cNvSpPr/>
          <p:nvPr/>
        </p:nvSpPr>
        <p:spPr>
          <a:xfrm>
            <a:off x="9372600" y="4453128"/>
            <a:ext cx="8001000" cy="27432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4" name="Text 11"/>
          <p:cNvSpPr/>
          <p:nvPr/>
        </p:nvSpPr>
        <p:spPr>
          <a:xfrm>
            <a:off x="10515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등록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설비종류 8종·계측 39종</a:t>
            </a:r>
            <a:endParaRPr lang="ko-KR" sz="2300" dirty="0"/>
          </a:p>
        </p:txBody>
      </p:sp>
      <p:sp>
        <p:nvSpPr>
          <p:cNvPr id="15" name="Text 12"/>
          <p:cNvSpPr/>
          <p:nvPr/>
        </p:nvSpPr>
        <p:spPr>
          <a:xfrm>
            <a:off x="32766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6" name="Shape 13"/>
          <p:cNvSpPr/>
          <p:nvPr/>
        </p:nvSpPr>
        <p:spPr>
          <a:xfrm>
            <a:off x="37338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7" name="Text 14"/>
          <p:cNvSpPr/>
          <p:nvPr/>
        </p:nvSpPr>
        <p:spPr>
          <a:xfrm>
            <a:off x="38709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태그 매핑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태그 10점 1:1</a:t>
            </a:r>
            <a:endParaRPr lang="ko-KR" sz="2300" dirty="0"/>
          </a:p>
        </p:txBody>
      </p:sp>
      <p:sp>
        <p:nvSpPr>
          <p:cNvPr id="18" name="Text 15"/>
          <p:cNvSpPr/>
          <p:nvPr/>
        </p:nvSpPr>
        <p:spPr>
          <a:xfrm>
            <a:off x="60960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9" name="Shape 16"/>
          <p:cNvSpPr/>
          <p:nvPr/>
        </p:nvSpPr>
        <p:spPr>
          <a:xfrm>
            <a:off x="65532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0" name="Text 17"/>
          <p:cNvSpPr/>
          <p:nvPr/>
        </p:nvSpPr>
        <p:spPr>
          <a:xfrm>
            <a:off x="66903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 등록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17개·명판 그대로</a:t>
            </a:r>
            <a:endParaRPr lang="ko-KR" sz="2300" dirty="0"/>
          </a:p>
        </p:txBody>
      </p:sp>
      <p:sp>
        <p:nvSpPr>
          <p:cNvPr id="21" name="Text 18"/>
          <p:cNvSpPr/>
          <p:nvPr/>
        </p:nvSpPr>
        <p:spPr>
          <a:xfrm>
            <a:off x="89154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2" name="Shape 19"/>
          <p:cNvSpPr/>
          <p:nvPr/>
        </p:nvSpPr>
        <p:spPr>
          <a:xfrm>
            <a:off x="93726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5097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원시 보존·미매핑 인박스</a:t>
            </a:r>
            <a:endParaRPr lang="ko-KR" sz="2300" dirty="0"/>
          </a:p>
        </p:txBody>
      </p:sp>
      <p:sp>
        <p:nvSpPr>
          <p:cNvPr id="24" name="Text 21"/>
          <p:cNvSpPr/>
          <p:nvPr/>
        </p:nvSpPr>
        <p:spPr>
          <a:xfrm>
            <a:off x="117348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5" name="Shape 22"/>
          <p:cNvSpPr/>
          <p:nvPr/>
        </p:nvSpPr>
        <p:spPr>
          <a:xfrm>
            <a:off x="121920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3291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탐지기 17종·준비도</a:t>
            </a:r>
            <a:endParaRPr lang="ko-KR" sz="2300" dirty="0"/>
          </a:p>
        </p:txBody>
      </p:sp>
      <p:sp>
        <p:nvSpPr>
          <p:cNvPr id="27" name="Text 24"/>
          <p:cNvSpPr/>
          <p:nvPr/>
        </p:nvSpPr>
        <p:spPr>
          <a:xfrm>
            <a:off x="145542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8" name="Shape 25"/>
          <p:cNvSpPr/>
          <p:nvPr/>
        </p:nvSpPr>
        <p:spPr>
          <a:xfrm>
            <a:off x="150114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51485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초안→검토→PDF</a:t>
            </a:r>
            <a:endParaRPr lang="ko-KR" sz="2300" dirty="0"/>
          </a:p>
        </p:txBody>
      </p:sp>
      <p:sp>
        <p:nvSpPr>
          <p:cNvPr id="30" name="Shape 27"/>
          <p:cNvSpPr/>
          <p:nvPr/>
        </p:nvSpPr>
        <p:spPr>
          <a:xfrm>
            <a:off x="91440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1440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2" name="Text 29"/>
          <p:cNvSpPr/>
          <p:nvPr/>
        </p:nvSpPr>
        <p:spPr>
          <a:xfrm>
            <a:off x="118872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구성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 1.5 MWp · ESS 2.0 MWh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수전해 2.5 MW · H₂ 500 Nm³/h @30 bar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버퍼 30 bar·50 m³ → 감압 30→0.8 bar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연료전지 2.0 MW · H₂ 1,340 Nm³/h</a:t>
            </a:r>
            <a:endParaRPr lang="ko-KR" sz="1600" dirty="0"/>
          </a:p>
        </p:txBody>
      </p:sp>
      <p:sp>
        <p:nvSpPr>
          <p:cNvPr id="33" name="Shape 30"/>
          <p:cNvSpPr/>
          <p:nvPr/>
        </p:nvSpPr>
        <p:spPr>
          <a:xfrm>
            <a:off x="649224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9224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5" name="Text 32"/>
          <p:cNvSpPr/>
          <p:nvPr/>
        </p:nvSpPr>
        <p:spPr>
          <a:xfrm>
            <a:off x="676656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매핑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받을 수 있는 것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계장 태그 10점 — 압력 3·유량 3·온도 3·수위 1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기존 계측 항목에 그대로 매핑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산소·폐열·수처리·감압·반입은 설비종류부터 신설</a:t>
            </a:r>
            <a:endParaRPr lang="ko-KR" sz="1600" dirty="0"/>
          </a:p>
        </p:txBody>
      </p:sp>
      <p:sp>
        <p:nvSpPr>
          <p:cNvPr id="36" name="Shape 33"/>
          <p:cNvSpPr/>
          <p:nvPr/>
        </p:nvSpPr>
        <p:spPr>
          <a:xfrm>
            <a:off x="1207008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207008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8" name="Text 35"/>
          <p:cNvSpPr/>
          <p:nvPr/>
        </p:nvSpPr>
        <p:spPr>
          <a:xfrm>
            <a:off x="1234440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공백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신설 요청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52행(필수 37·권장 15) — 계기 39점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점이 없으면 해당 영역 판정 자체가 불가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계기는 설계 단계에서만 싸다 — REV.3 전에 송부</a:t>
            </a:r>
            <a:endParaRPr lang="ko-KR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수치를 역산하니 설계 검토 사항 3건이 나왔습니다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모든 수치는 도면 표기값에서 역산한 계산값이며 실측이 아닙니다. 계산 근거와 출처는 동봉 보고서 7장</a:t>
            </a:r>
            <a:endParaRPr lang="ko-KR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2210937"/>
                <a:gridCol w="3684896"/>
                <a:gridCol w="5650173"/>
                <a:gridCol w="491319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 사항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도면 표기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역산 결과 (계산)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뜻하는 것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산소 판매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 bar·30 m³ 탱크, 생산 250 Nm³/h, 트럭 출하. 압축기 없음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생산 357 kg/h, 만재 재고 637 kg → 체류 1.8시간. 트레일러 충전압 150~200 bar에 못 미쳐 충전 불가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 설계로는 70~80% 방출. 압축기 도입·탱크 증설·판매 포기 중 고르는 경제성 안건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64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폐열 3% 절감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FC 냉각수 75 °C에서 350 kWth 회수 → 급수 예열, 수전해 전력 3% 절감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급수 0.5 m³/h를 15→55 °C로 올리는 열은 23.3 kWth = 2.5 MW의 0.93%. 다 받으려면 7.5 m³/h(15배)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350 kWth는 ‘FC 회수 가능 총열량’으로 읽어야 한다. 잔여 1,664 kWth를 버릴 덤프쿨러가 도면에 없다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64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수소 자급률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수전해 500 Nm³/h, 연료전지 1,340 Nm³/h, 버퍼 30 bar·50 m³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생산 44.9 vs 소비 120.4 kg/h → 자급률 37.3%. 버퍼 가용 102.8 kg = FC 단독 0.85시간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하루 약 869 kg 외부 반입 필요(Type I 4.4대). 물질수지 식에 ‘반입’ 항이 없으면 매일 음(−) 잔차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914400" y="6798056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0" name="Text 6"/>
          <p:cNvSpPr/>
          <p:nvPr/>
        </p:nvSpPr>
        <p:spPr>
          <a:xfrm>
            <a:off x="1234440" y="6907784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콘솔이 하는 일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설계를 바꾸는 것은 콘솔의 몫이 아닙니다. 탱크 만재 시간 비율·방출 손실률·회수율·예열 ON/OFF 전력 차이를 매달 계산해 투자 판단의 근거를 숫자로 만듭니다.</a:t>
            </a:r>
            <a:endParaRPr lang="ko-KR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계기 신설은 설계 단계에서만 쌉니다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이 밖에 명판·문서(Nm³ 기준조건, 압력 기준)와 장부(반입·출하 전표, 법정 품질검사 기록)는 텔레메트리로 오지 않아 CSV 서식을 먼저 합의합니다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계약 추가 요청 52행 — 요구 정확도에는 모두 근거를 붙였습니다</a:t>
            </a:r>
            <a:endParaRPr lang="ko-KR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886200"/>
          <a:ext cx="16459200" cy="914400"/>
        </p:xfrm>
        <a:graphic>
          <a:graphicData uri="http://schemas.openxmlformats.org/drawingml/2006/table">
            <a:tbl>
              <a:tblPr/>
              <a:tblGrid>
                <a:gridCol w="2372497"/>
                <a:gridCol w="1037968"/>
                <a:gridCol w="5634681"/>
                <a:gridCol w="741405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그룹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특히 중요한 것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정확도를 요구하는 근거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부산물 산소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TT-401 탱크 온도, 산소 중 수소 분석기, 출하 적산 ±0.5%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온도 없이는 재고 환산 자체가 불가. HTO는 법정 압축금지선 2 vol% 판정용이라 분해능 0.05 vol% 필요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폐열회수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TT-304 2차측 입구 온도, CT-301 급수 전도도, 적산열량계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온도 쌍 편차 0.1 °C 이내(EN 1434 Class 2) — 0.1 K 불일치만으로 ΔT 15 K에서 0.67% 오차가 실린다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수처리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RO·혼상수지 후단 전도도, 재순환 유량계, 급수 적산계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운전 목표 0.1 µS/cm와 경보 1.0 µS/cm를 가르려면 0.055~2 µS/cm 구간 분해능이 필요하다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감압·버퍼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TT-201 버퍼 가스 온도, PT-202 스팬 재지정, PLC 1초 압력통계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0~40 bar 스팬으로는 40 mbar/h급 크리프 판정이 원리상 불가능하다. 0~4 bar·≤0.075%FS로 바꿔야 한다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반입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코리올리 질량유량계·적산계, 접지 접점, 하역 상태 코드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±1.5%(OIML 등급 2)면 869 kg/일에서 잔차 1.35%p — 임계 2%의 68%를 계량 오차가 혼자 먹는다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예상안이 아니라 지금 동작하는 화면입니다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가상 사이트 4곳의 시뮬레이션 데이터로 동작과 오탐률을 확인한 상태입니다. 실제 운전 데이터 검증은 계기 설치 이후입니다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52044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→ 조치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데스크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탐지기 17종의 발견사항을 근거 데이터와 함께 본다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판별 체크·쉬운 말 설명·권장 조치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기록 → 조치 전후를 같은 조건으로 비교해 효과 검증</a:t>
            </a:r>
            <a:endParaRPr lang="ko-KR" sz="1600" dirty="0"/>
          </a:p>
        </p:txBody>
      </p:sp>
      <p:sp>
        <p:nvSpPr>
          <p:cNvPr id="11" name="Shape 8"/>
          <p:cNvSpPr/>
          <p:nvPr/>
        </p:nvSpPr>
        <p:spPr>
          <a:xfrm>
            <a:off x="9281160" y="324612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116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Text 10"/>
          <p:cNvSpPr/>
          <p:nvPr/>
        </p:nvSpPr>
        <p:spPr>
          <a:xfrm>
            <a:off x="9555480" y="352044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지도 · 사이트 상세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사이트별 상태를 지도에 표시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KPI, 체인 원장(PV→수소→발전), 물질수지 잔차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 준비도 — 어느 탐지기가 왜 못 도는지</a:t>
            </a:r>
            <a:endParaRPr lang="ko-KR" sz="1600" dirty="0"/>
          </a:p>
        </p:txBody>
      </p:sp>
      <p:sp>
        <p:nvSpPr>
          <p:cNvPr id="14" name="Shape 11"/>
          <p:cNvSpPr/>
          <p:nvPr/>
        </p:nvSpPr>
        <p:spPr>
          <a:xfrm>
            <a:off x="914400" y="637794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637794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665226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공정도(P&amp;ID) 화면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좌표를 그대로 옮긴 SVG 상태판(읽기 전용)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태그별 값과 발견사항 배지를 같은 그림 위에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미설치 계기는 ‘미설치’로 — 계측 공백이 한눈에 보인다</a:t>
            </a:r>
            <a:endParaRPr lang="ko-KR" sz="1600" dirty="0"/>
          </a:p>
        </p:txBody>
      </p:sp>
      <p:sp>
        <p:nvSpPr>
          <p:cNvPr id="17" name="Shape 14"/>
          <p:cNvSpPr/>
          <p:nvPr/>
        </p:nvSpPr>
        <p:spPr>
          <a:xfrm>
            <a:off x="9281160" y="637794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637794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555480" y="665226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설명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수치·판정은 분석 엔진, 문장만 Gemini가 다듬는다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숫자·이름·방향·금지표현 등 6가지를 기계로 검증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걸리면 채택하지 않고 틀 문장으로 되돌린다</a:t>
            </a:r>
            <a:endParaRPr lang="ko-KR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예상안에서 ‘구현 완료’로 바뀐 것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‘완료’는 코드와 단위 테스트가 있고 화면에서 동작한다는 뜻입니다</a:t>
            </a:r>
            <a:endParaRPr lang="ko-KR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451123"/>
                <a:gridCol w="1592826"/>
                <a:gridCol w="1141525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탐지기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17종 — 태양광 3, ESS 3, 수전해·연료전지 4, 수소 체인 3, 데이터 품질 1, 가평 구성 3(감압밸브 누설·폐열회수 저하·산소 중 수소)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실행 · 준비도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관리자가 사이트·기간을 골라 수동 실행. 입력이 없으면 0으로 채우지 않고 ‘판정 불능’. 준비도 매트릭스가 부족한 계측 항목을 지목한다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코칭 리포트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월간·분기·연간 초안 생성 → 검토 → 승인 → PDF 출력. 분석과 출력이 분리되어 있다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 추적·효과 검증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발견사항 → 조치 기록 → 조치 전후 같은 조건 비교. 정비이력 CSV 가져오기 포함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원장 · 물질수지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에너지·수소 원장을 일 단위로 닫고 잔차를 감시. 도면 검토를 반영해 식에 ‘반입’ 항을 넣었다(적산계 → 전표 → 판정 불능)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 · 공정도 · 가평 사이트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 지도와 도면 좌표 기반 공정도 화면. 가평은 설비 17개를 도면 명판 그대로 등록(미확인은 ‘미확인’), 태그 10점 매핑, 미설치 52행은 요청 목록으로 분리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설명 · 전표 입력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수치는 통계, 문장은 LLM + 검증·폴백. 반입·출하 전표는 수기 입력과 CSV로 받는다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산소·물 원장 / 현장 수집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대기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설계는 확정 — 유량계·적산계가 붙으면 바로 적재. 현장 수집은 게이트웨이 설치와 데이터 계약이 선행된다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· 결론과 다음 단계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계기 신설은 설계 단계에서만 쌉니다. 시공 후에는 배관 개조가 따라와 몇 배가 듭니다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6"/>
          <p:cNvSpPr/>
          <p:nvPr/>
        </p:nvSpPr>
        <p:spPr>
          <a:xfrm>
            <a:off x="1234440" y="3355848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 189개를 같은 조건으로 쌓고 주기별 판정 수준을 나누면 노후와 개선 여지를 근거와 함께 설명할 수 있고, 실제 도면 한 장만 있어도 그 준비의 절반은 데이터가 오기 전에 끝낼 수 있습니다.</a:t>
            </a:r>
            <a:endParaRPr lang="ko-KR" sz="2200" dirty="0"/>
          </a:p>
        </p:txBody>
      </p:sp>
      <p:sp>
        <p:nvSpPr>
          <p:cNvPr id="10" name="Shape 7"/>
          <p:cNvSpPr/>
          <p:nvPr/>
        </p:nvSpPr>
        <p:spPr>
          <a:xfrm>
            <a:off x="91440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2" name="Text 9"/>
          <p:cNvSpPr/>
          <p:nvPr/>
        </p:nvSpPr>
        <p:spPr>
          <a:xfrm>
            <a:off x="123444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운전 데이터는 아직 없다 — 도면 검토는 역산값이다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압력 기준·Nm³ 기준조건 미확정(환산 3%·7% 불확실)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 데이터 접근권이 없으면 셀·스택 판정 불가</a:t>
            </a:r>
            <a:endParaRPr lang="ko-KR" sz="2300" dirty="0"/>
          </a:p>
        </p:txBody>
      </p:sp>
      <p:sp>
        <p:nvSpPr>
          <p:cNvPr id="13" name="Shape 10"/>
          <p:cNvSpPr/>
          <p:nvPr/>
        </p:nvSpPr>
        <p:spPr>
          <a:xfrm>
            <a:off x="649224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5" name="Text 12"/>
          <p:cNvSpPr/>
          <p:nvPr/>
        </p:nvSpPr>
        <p:spPr>
          <a:xfrm>
            <a:off x="681228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압력 기준·Nm³ 기준조건부터 회신 확보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115개 + 가평 신설 52행을 REV.3 전에 송부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3개월 기준값 → 월간 리포트 시범 발행</a:t>
            </a:r>
            <a:endParaRPr lang="ko-KR" sz="2300" dirty="0"/>
          </a:p>
        </p:txBody>
      </p:sp>
      <p:sp>
        <p:nvSpPr>
          <p:cNvPr id="16" name="Shape 13"/>
          <p:cNvSpPr/>
          <p:nvPr/>
        </p:nvSpPr>
        <p:spPr>
          <a:xfrm>
            <a:off x="1207008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07008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8" name="Text 15"/>
          <p:cNvSpPr/>
          <p:nvPr/>
        </p:nvSpPr>
        <p:spPr>
          <a:xfrm>
            <a:off x="1239012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도면만으로 설계 검토 3건을 계산 근거와 함께 제시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월간: 손실·트립·오염을 원인별로 나눠 조치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분기·연간: 용량·스택 추세로 교체·보강 시점 판단</a:t>
            </a:r>
            <a:endParaRPr lang="ko-KR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설비 데이터로 보는 수명과 개선 여지</dc:title>
  <dc:subject>PptxGenJS Presentation</dc:subject>
  <dc:creator>주식회사 퍼스트씨앤디</dc:creator>
  <cp:lastModifiedBy>주식회사 퍼스트씨앤디</cp:lastModifiedBy>
  <cp:revision>1</cp:revision>
  <dcterms:created xsi:type="dcterms:W3CDTF">2026-09-16T20:19:46Z</dcterms:created>
  <dcterms:modified xsi:type="dcterms:W3CDTF">2026-09-16T20:19:46Z</dcterms:modified>
</cp:coreProperties>
</file>